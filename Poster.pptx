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
  </p:notesMasterIdLst>
  <p:sldIdLst>
    <p:sldId id="256" r:id="rId2"/>
    <p:sldId id="257" r:id="rId3"/>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333333"/>
    <a:srgbClr val="F5F5DC"/>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1DFCA6-C4A5-40AC-B792-0C93A456EA9E}" v="1184" dt="2026-05-18T14:40:25.396"/>
    <p1510:client id="{7885A197-381A-465D-A948-96F1A941B31A}" v="114" dt="2026-05-18T07:53:14.601"/>
    <p1510:client id="{7EB18862-FCF1-401B-872B-127FCAF6AF7A}" v="2" dt="2026-05-18T16:05:03.913"/>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7869" autoAdjust="0"/>
  </p:normalViewPr>
  <p:slideViewPr>
    <p:cSldViewPr snapToGrid="0">
      <p:cViewPr>
        <p:scale>
          <a:sx n="33" d="100"/>
          <a:sy n="33" d="100"/>
        </p:scale>
        <p:origin x="999" y="-24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delSld modSld">
      <pc:chgData name="Elja Meuter" userId="b1e1bb923a19bf75" providerId="LiveId" clId="{D71E6ABD-519B-41F0-9374-E926C1080144}" dt="2026-05-18T16:05:09.013" v="10876" actId="20577"/>
      <pc:docMkLst>
        <pc:docMk/>
      </pc:docMkLst>
      <pc:sldChg chg="addSp delSp modSp mod setBg modNotesTx">
        <pc:chgData name="Elja Meuter" userId="b1e1bb923a19bf75" providerId="LiveId" clId="{D71E6ABD-519B-41F0-9374-E926C1080144}" dt="2026-05-18T16:05:09.013" v="10876" actId="20577"/>
        <pc:sldMkLst>
          <pc:docMk/>
          <pc:sldMk cId="1631260291" sldId="256"/>
        </pc:sldMkLst>
        <pc:spChg chg="add mod">
          <ac:chgData name="Elja Meuter" userId="b1e1bb923a19bf75" providerId="LiveId" clId="{D71E6ABD-519B-41F0-9374-E926C1080144}" dt="2026-05-18T07:50:38.633" v="10832" actId="207"/>
          <ac:spMkLst>
            <pc:docMk/>
            <pc:sldMk cId="1631260291" sldId="256"/>
            <ac:spMk id="2" creationId="{257CDFF9-337C-562C-2BEA-4394DD69AA20}"/>
          </ac:spMkLst>
        </pc:spChg>
        <pc:spChg chg="add mod">
          <ac:chgData name="Elja Meuter" userId="b1e1bb923a19bf75" providerId="LiveId" clId="{D71E6ABD-519B-41F0-9374-E926C1080144}" dt="2026-05-14T18:31:50.712" v="8489" actId="14100"/>
          <ac:spMkLst>
            <pc:docMk/>
            <pc:sldMk cId="1631260291" sldId="256"/>
            <ac:spMk id="6" creationId="{75A5A8A8-C19D-0F38-1307-604062B341FE}"/>
          </ac:spMkLst>
        </pc:spChg>
        <pc:spChg chg="add mod">
          <ac:chgData name="Elja Meuter" userId="b1e1bb923a19bf75" providerId="LiveId" clId="{D71E6ABD-519B-41F0-9374-E926C1080144}" dt="2026-05-18T07:41:47.475" v="10368" actId="1076"/>
          <ac:spMkLst>
            <pc:docMk/>
            <pc:sldMk cId="1631260291" sldId="256"/>
            <ac:spMk id="8" creationId="{411274EE-0C89-D8DC-D78E-D77A17C682A3}"/>
          </ac:spMkLst>
        </pc:spChg>
        <pc:spChg chg="add mod">
          <ac:chgData name="Elja Meuter" userId="b1e1bb923a19bf75" providerId="LiveId" clId="{D71E6ABD-519B-41F0-9374-E926C1080144}" dt="2026-05-14T18:31:34.271" v="8456" actId="1036"/>
          <ac:spMkLst>
            <pc:docMk/>
            <pc:sldMk cId="1631260291" sldId="256"/>
            <ac:spMk id="9" creationId="{92C232B5-1E0E-ADAC-220A-118557C703BD}"/>
          </ac:spMkLst>
        </pc:spChg>
        <pc:spChg chg="add del mod">
          <ac:chgData name="Elja Meuter" userId="b1e1bb923a19bf75" providerId="LiveId" clId="{D71E6ABD-519B-41F0-9374-E926C1080144}" dt="2026-05-18T16:05:03.913" v="10875" actId="313"/>
          <ac:spMkLst>
            <pc:docMk/>
            <pc:sldMk cId="1631260291" sldId="256"/>
            <ac:spMk id="10" creationId="{EEC861E3-4293-261B-8470-7D810DEF75E7}"/>
          </ac:spMkLst>
        </pc:spChg>
        <pc:spChg chg="add mod">
          <ac:chgData name="Elja Meuter" userId="b1e1bb923a19bf75" providerId="LiveId" clId="{D71E6ABD-519B-41F0-9374-E926C1080144}" dt="2026-05-15T06:48:17.201" v="9081" actId="1076"/>
          <ac:spMkLst>
            <pc:docMk/>
            <pc:sldMk cId="1631260291" sldId="256"/>
            <ac:spMk id="11" creationId="{DE0F863F-84E9-EDE3-B277-A75B7AC18A11}"/>
          </ac:spMkLst>
        </pc:spChg>
        <pc:spChg chg="add mod">
          <ac:chgData name="Elja Meuter" userId="b1e1bb923a19bf75" providerId="LiveId" clId="{D71E6ABD-519B-41F0-9374-E926C1080144}" dt="2026-05-15T06:50:18.243" v="9172" actId="1035"/>
          <ac:spMkLst>
            <pc:docMk/>
            <pc:sldMk cId="1631260291" sldId="256"/>
            <ac:spMk id="12" creationId="{D360F485-59C6-689F-22F4-1828217D52C6}"/>
          </ac:spMkLst>
        </pc:spChg>
        <pc:spChg chg="add mod">
          <ac:chgData name="Elja Meuter" userId="b1e1bb923a19bf75" providerId="LiveId" clId="{D71E6ABD-519B-41F0-9374-E926C1080144}" dt="2026-05-18T07:51:15.521" v="10862" actId="1036"/>
          <ac:spMkLst>
            <pc:docMk/>
            <pc:sldMk cId="1631260291" sldId="256"/>
            <ac:spMk id="13" creationId="{ED759B63-C847-80C1-30B5-B6ED7A60C236}"/>
          </ac:spMkLst>
        </pc:spChg>
        <pc:spChg chg="add mod">
          <ac:chgData name="Elja Meuter" userId="b1e1bb923a19bf75" providerId="LiveId" clId="{D71E6ABD-519B-41F0-9374-E926C1080144}" dt="2026-05-15T06:49:08.430" v="9157" actId="1076"/>
          <ac:spMkLst>
            <pc:docMk/>
            <pc:sldMk cId="1631260291" sldId="256"/>
            <ac:spMk id="22" creationId="{83868522-5080-F034-4FE0-9811D53FE160}"/>
          </ac:spMkLst>
        </pc:spChg>
        <pc:spChg chg="add mod ord">
          <ac:chgData name="Elja Meuter" userId="b1e1bb923a19bf75" providerId="LiveId" clId="{D71E6ABD-519B-41F0-9374-E926C1080144}" dt="2026-05-18T07:50:38.885" v="10833" actId="207"/>
          <ac:spMkLst>
            <pc:docMk/>
            <pc:sldMk cId="1631260291" sldId="256"/>
            <ac:spMk id="25" creationId="{77969D52-DE5C-42BF-121B-27045EB0367C}"/>
          </ac:spMkLst>
        </pc:spChg>
        <pc:spChg chg="add mod">
          <ac:chgData name="Elja Meuter" userId="b1e1bb923a19bf75" providerId="LiveId" clId="{D71E6ABD-519B-41F0-9374-E926C1080144}" dt="2026-05-18T07:41:16.945" v="10364" actId="1037"/>
          <ac:spMkLst>
            <pc:docMk/>
            <pc:sldMk cId="1631260291" sldId="256"/>
            <ac:spMk id="26" creationId="{EA8F6643-E188-E9B9-4278-A3D486B64E53}"/>
          </ac:spMkLst>
        </pc:spChg>
        <pc:spChg chg="add mod ord">
          <ac:chgData name="Elja Meuter" userId="b1e1bb923a19bf75" providerId="LiveId" clId="{D71E6ABD-519B-41F0-9374-E926C1080144}" dt="2026-05-08T11:36:30.877" v="6635" actId="1076"/>
          <ac:spMkLst>
            <pc:docMk/>
            <pc:sldMk cId="1631260291" sldId="256"/>
            <ac:spMk id="38" creationId="{B039DC59-8B27-C6AE-F950-07622A303ABE}"/>
          </ac:spMkLst>
        </pc:spChg>
        <pc:spChg chg="add mod ord">
          <ac:chgData name="Elja Meuter" userId="b1e1bb923a19bf75" providerId="LiveId" clId="{D71E6ABD-519B-41F0-9374-E926C1080144}" dt="2026-05-18T07:32:58.015" v="9775" actId="1076"/>
          <ac:spMkLst>
            <pc:docMk/>
            <pc:sldMk cId="1631260291" sldId="256"/>
            <ac:spMk id="39" creationId="{6078CAB3-5FA3-247D-A3F8-4A33EFC8D7C5}"/>
          </ac:spMkLst>
        </pc:spChg>
        <pc:spChg chg="add mod">
          <ac:chgData name="Elja Meuter" userId="b1e1bb923a19bf75" providerId="LiveId" clId="{D71E6ABD-519B-41F0-9374-E926C1080144}" dt="2026-05-18T07:47:49.934" v="10758" actId="1036"/>
          <ac:spMkLst>
            <pc:docMk/>
            <pc:sldMk cId="1631260291" sldId="256"/>
            <ac:spMk id="40" creationId="{F27323A8-4E37-7C83-308C-B4A73170034C}"/>
          </ac:spMkLst>
        </pc:spChg>
        <pc:spChg chg="add mod">
          <ac:chgData name="Elja Meuter" userId="b1e1bb923a19bf75" providerId="LiveId" clId="{D71E6ABD-519B-41F0-9374-E926C1080144}" dt="2026-05-08T11:34:54.164" v="6614" actId="14100"/>
          <ac:spMkLst>
            <pc:docMk/>
            <pc:sldMk cId="1631260291" sldId="256"/>
            <ac:spMk id="41" creationId="{EBBD04DC-465B-1446-6DB1-EE54CD34F1F0}"/>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18T07:51:03.381" v="10845" actId="1036"/>
          <ac:spMkLst>
            <pc:docMk/>
            <pc:sldMk cId="1631260291" sldId="256"/>
            <ac:spMk id="45" creationId="{694D2F0C-11F7-33A7-CDD9-1BBD334156B6}"/>
          </ac:spMkLst>
        </pc:spChg>
        <pc:spChg chg="add mod">
          <ac:chgData name="Elja Meuter" userId="b1e1bb923a19bf75" providerId="LiveId" clId="{D71E6ABD-519B-41F0-9374-E926C1080144}" dt="2026-05-18T07:47:59.364" v="10759" actId="20577"/>
          <ac:spMkLst>
            <pc:docMk/>
            <pc:sldMk cId="1631260291" sldId="256"/>
            <ac:spMk id="47" creationId="{5C947FBF-1ECA-BFC4-9160-8E6DDA7EBFF4}"/>
          </ac:spMkLst>
        </pc:spChg>
        <pc:spChg chg="add mod">
          <ac:chgData name="Elja Meuter" userId="b1e1bb923a19bf75" providerId="LiveId" clId="{D71E6ABD-519B-41F0-9374-E926C1080144}" dt="2026-05-14T18:31:44.412" v="8487" actId="14100"/>
          <ac:spMkLst>
            <pc:docMk/>
            <pc:sldMk cId="1631260291" sldId="256"/>
            <ac:spMk id="49" creationId="{88C5AEBA-A112-FD1B-09E6-C2287DC238E3}"/>
          </ac:spMkLst>
        </pc:spChg>
        <pc:spChg chg="add mod">
          <ac:chgData name="Elja Meuter" userId="b1e1bb923a19bf75" providerId="LiveId" clId="{D71E6ABD-519B-41F0-9374-E926C1080144}" dt="2026-05-18T07:32:54.018" v="9774" actId="14100"/>
          <ac:spMkLst>
            <pc:docMk/>
            <pc:sldMk cId="1631260291" sldId="256"/>
            <ac:spMk id="51" creationId="{2B0218E8-BF5D-8A0F-E683-278157EA5EF5}"/>
          </ac:spMkLst>
        </pc:spChg>
        <pc:spChg chg="add mod">
          <ac:chgData name="Elja Meuter" userId="b1e1bb923a19bf75" providerId="LiveId" clId="{D71E6ABD-519B-41F0-9374-E926C1080144}" dt="2026-05-18T07:42:25.578" v="10396" actId="6549"/>
          <ac:spMkLst>
            <pc:docMk/>
            <pc:sldMk cId="1631260291" sldId="256"/>
            <ac:spMk id="72" creationId="{ACF80A8F-DEC9-6010-BB3D-BD6774C81B3E}"/>
          </ac:spMkLst>
        </pc:spChg>
        <pc:spChg chg="add del mod">
          <ac:chgData name="Elja Meuter" userId="b1e1bb923a19bf75" providerId="LiveId" clId="{D71E6ABD-519B-41F0-9374-E926C1080144}" dt="2026-05-18T07:38:03.723" v="10081" actId="1035"/>
          <ac:spMkLst>
            <pc:docMk/>
            <pc:sldMk cId="1631260291" sldId="256"/>
            <ac:spMk id="81" creationId="{B443C48D-509F-9554-A716-3712A4A284E5}"/>
          </ac:spMkLst>
        </pc:spChg>
        <pc:spChg chg="add mod">
          <ac:chgData name="Elja Meuter" userId="b1e1bb923a19bf75" providerId="LiveId" clId="{D71E6ABD-519B-41F0-9374-E926C1080144}" dt="2026-05-15T06:42:49.956" v="8838" actId="1076"/>
          <ac:spMkLst>
            <pc:docMk/>
            <pc:sldMk cId="1631260291" sldId="256"/>
            <ac:spMk id="82" creationId="{EDBEE8A4-9524-7B70-8E91-5870476C097D}"/>
          </ac:spMkLst>
        </pc:spChg>
        <pc:graphicFrameChg chg="add mod modGraphic">
          <ac:chgData name="Elja Meuter" userId="b1e1bb923a19bf75" providerId="LiveId" clId="{D71E6ABD-519B-41F0-9374-E926C1080144}" dt="2026-05-18T16:05:09.013" v="10876" actId="20577"/>
          <ac:graphicFrameMkLst>
            <pc:docMk/>
            <pc:sldMk cId="1631260291" sldId="256"/>
            <ac:graphicFrameMk id="3" creationId="{94A2B041-0A3D-4469-7F39-F62F5BC2501A}"/>
          </ac:graphicFrameMkLst>
        </pc:graphicFrameChg>
        <pc:graphicFrameChg chg="add mod modGraphic">
          <ac:chgData name="Elja Meuter" userId="b1e1bb923a19bf75" providerId="LiveId" clId="{D71E6ABD-519B-41F0-9374-E926C1080144}" dt="2026-05-15T06:48:17.201" v="9081" actId="1076"/>
          <ac:graphicFrameMkLst>
            <pc:docMk/>
            <pc:sldMk cId="1631260291" sldId="256"/>
            <ac:graphicFrameMk id="16" creationId="{94399FEF-B43E-87CD-14AE-705E86E62D60}"/>
          </ac:graphicFrameMkLst>
        </pc:graphicFrameChg>
        <pc:picChg chg="add del mod">
          <ac:chgData name="Elja Meuter" userId="b1e1bb923a19bf75" providerId="LiveId" clId="{D71E6ABD-519B-41F0-9374-E926C1080144}" dt="2026-05-18T07:22:18.300" v="9345" actId="478"/>
          <ac:picMkLst>
            <pc:docMk/>
            <pc:sldMk cId="1631260291" sldId="256"/>
            <ac:picMk id="7" creationId="{B3FD3927-E6F9-14D1-169D-51649A6EE22A}"/>
          </ac:picMkLst>
        </pc:picChg>
        <pc:picChg chg="add mod">
          <ac:chgData name="Elja Meuter" userId="b1e1bb923a19bf75" providerId="LiveId" clId="{D71E6ABD-519B-41F0-9374-E926C1080144}" dt="2026-05-18T07:41:16.945" v="10364" actId="1037"/>
          <ac:picMkLst>
            <pc:docMk/>
            <pc:sldMk cId="1631260291" sldId="256"/>
            <ac:picMk id="14" creationId="{CE8CF416-836D-AFEE-A1C3-3C92DDBF7BAD}"/>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del mod">
          <ac:chgData name="Elja Meuter" userId="b1e1bb923a19bf75" providerId="LiveId" clId="{D71E6ABD-519B-41F0-9374-E926C1080144}" dt="2026-05-18T07:38:56.267" v="10083" actId="478"/>
          <ac:picMkLst>
            <pc:docMk/>
            <pc:sldMk cId="1631260291" sldId="256"/>
            <ac:picMk id="18" creationId="{3CF83738-EBA7-413C-2D17-CFA20036C084}"/>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mod">
          <ac:chgData name="Elja Meuter" userId="b1e1bb923a19bf75" providerId="LiveId" clId="{D71E6ABD-519B-41F0-9374-E926C1080144}" dt="2026-05-18T07:41:16.945" v="10364" actId="1037"/>
          <ac:picMkLst>
            <pc:docMk/>
            <pc:sldMk cId="1631260291" sldId="256"/>
            <ac:picMk id="21" creationId="{D1644647-075B-DFB4-CE0E-B4BEBDE89E6A}"/>
          </ac:picMkLst>
        </pc:picChg>
        <pc:picChg chg="add mod">
          <ac:chgData name="Elja Meuter" userId="b1e1bb923a19bf75" providerId="LiveId" clId="{D71E6ABD-519B-41F0-9374-E926C1080144}" dt="2026-05-18T07:41:16.945" v="10364" actId="1037"/>
          <ac:picMkLst>
            <pc:docMk/>
            <pc:sldMk cId="1631260291" sldId="256"/>
            <ac:picMk id="24" creationId="{6D2E5C82-84B6-5B08-A829-953CBFFCA94F}"/>
          </ac:picMkLst>
        </pc:picChg>
        <pc:picChg chg="del mod modCrop">
          <ac:chgData name="Elja Meuter" userId="b1e1bb923a19bf75" providerId="LiveId" clId="{D71E6ABD-519B-41F0-9374-E926C1080144}" dt="2026-05-18T07:28:42.243" v="9592" actId="478"/>
          <ac:picMkLst>
            <pc:docMk/>
            <pc:sldMk cId="1631260291" sldId="256"/>
            <ac:picMk id="28" creationId="{81D6B83C-5842-E5B0-D913-111BD46C8DC1}"/>
          </ac:picMkLst>
        </pc:picChg>
        <pc:picChg chg="add mod ord modCrop">
          <ac:chgData name="Elja Meuter" userId="b1e1bb923a19bf75" providerId="LiveId" clId="{D71E6ABD-519B-41F0-9374-E926C1080144}" dt="2026-05-18T07:41:16.945" v="10364" actId="1037"/>
          <ac:picMkLst>
            <pc:docMk/>
            <pc:sldMk cId="1631260291" sldId="256"/>
            <ac:picMk id="29" creationId="{2A130629-8A6B-D6BC-8480-73A945782973}"/>
          </ac:picMkLst>
        </pc:picChg>
        <pc:picChg chg="del mod modCrop">
          <ac:chgData name="Elja Meuter" userId="b1e1bb923a19bf75" providerId="LiveId" clId="{D71E6ABD-519B-41F0-9374-E926C1080144}" dt="2026-05-18T07:28:41.778" v="9591" actId="478"/>
          <ac:picMkLst>
            <pc:docMk/>
            <pc:sldMk cId="1631260291" sldId="256"/>
            <ac:picMk id="30" creationId="{A53BF8A8-1E80-08BE-5B95-28ABA1130BFA}"/>
          </ac:picMkLst>
        </pc:picChg>
        <pc:picChg chg="del mod modCrop">
          <ac:chgData name="Elja Meuter" userId="b1e1bb923a19bf75" providerId="LiveId" clId="{D71E6ABD-519B-41F0-9374-E926C1080144}" dt="2026-05-18T07:28:43.074" v="9593" actId="478"/>
          <ac:picMkLst>
            <pc:docMk/>
            <pc:sldMk cId="1631260291" sldId="256"/>
            <ac:picMk id="32" creationId="{B159EC36-2432-212A-875E-29EBA97128FE}"/>
          </ac:picMkLst>
        </pc:picChg>
        <pc:cxnChg chg="add mod">
          <ac:chgData name="Elja Meuter" userId="b1e1bb923a19bf75" providerId="LiveId" clId="{D71E6ABD-519B-41F0-9374-E926C1080144}" dt="2026-05-15T06:48:28.900" v="9084" actId="17032"/>
          <ac:cxnSpMkLst>
            <pc:docMk/>
            <pc:sldMk cId="1631260291" sldId="256"/>
            <ac:cxnSpMk id="17" creationId="{146FA7D4-817B-331F-243B-515CF96A3EFD}"/>
          </ac:cxnSpMkLst>
        </pc:cxnChg>
        <pc:cxnChg chg="add mod">
          <ac:chgData name="Elja Meuter" userId="b1e1bb923a19bf75" providerId="LiveId" clId="{D71E6ABD-519B-41F0-9374-E926C1080144}" dt="2026-05-18T07:52:09.457" v="10863" actId="14100"/>
          <ac:cxnSpMkLst>
            <pc:docMk/>
            <pc:sldMk cId="1631260291" sldId="256"/>
            <ac:cxnSpMk id="19" creationId="{A51CA63B-AE8B-C8DC-103F-AC70E390BA72}"/>
          </ac:cxnSpMkLst>
        </pc:cxnChg>
        <pc:cxnChg chg="add mod">
          <ac:chgData name="Elja Meuter" userId="b1e1bb923a19bf75" providerId="LiveId" clId="{D71E6ABD-519B-41F0-9374-E926C1080144}" dt="2026-05-18T07:52:15.236" v="10864" actId="14100"/>
          <ac:cxnSpMkLst>
            <pc:docMk/>
            <pc:sldMk cId="1631260291" sldId="256"/>
            <ac:cxnSpMk id="23" creationId="{87701C8F-B0BD-60F4-4A76-2E0CEE344469}"/>
          </ac:cxnSpMkLst>
        </pc:cxnChg>
      </pc:sldChg>
      <pc:sldChg chg="addSp delSp modSp new mod">
        <pc:chgData name="Elja Meuter" userId="b1e1bb923a19bf75" providerId="LiveId" clId="{D71E6ABD-519B-41F0-9374-E926C1080144}" dt="2026-05-18T07:28:11.472" v="9590" actId="14826"/>
        <pc:sldMkLst>
          <pc:docMk/>
          <pc:sldMk cId="4112512561" sldId="257"/>
        </pc:sldMkLst>
        <pc:spChg chg="del">
          <ac:chgData name="Elja Meuter" userId="b1e1bb923a19bf75" providerId="LiveId" clId="{D71E6ABD-519B-41F0-9374-E926C1080144}" dt="2026-05-18T07:22:59.559" v="9350" actId="478"/>
          <ac:spMkLst>
            <pc:docMk/>
            <pc:sldMk cId="4112512561" sldId="257"/>
            <ac:spMk id="3" creationId="{4EA1C412-FC4A-0F54-2A52-A99CE750B477}"/>
          </ac:spMkLst>
        </pc:spChg>
        <pc:picChg chg="add del">
          <ac:chgData name="Elja Meuter" userId="b1e1bb923a19bf75" providerId="LiveId" clId="{D71E6ABD-519B-41F0-9374-E926C1080144}" dt="2026-05-18T07:22:57.765" v="9349" actId="478"/>
          <ac:picMkLst>
            <pc:docMk/>
            <pc:sldMk cId="4112512561" sldId="257"/>
            <ac:picMk id="5" creationId="{5FEABE4C-2B7D-CF62-C397-095BDD4CF637}"/>
          </ac:picMkLst>
        </pc:picChg>
        <pc:picChg chg="add mod">
          <ac:chgData name="Elja Meuter" userId="b1e1bb923a19bf75" providerId="LiveId" clId="{D71E6ABD-519B-41F0-9374-E926C1080144}" dt="2026-05-18T07:24:31.077" v="9486" actId="1038"/>
          <ac:picMkLst>
            <pc:docMk/>
            <pc:sldMk cId="4112512561" sldId="257"/>
            <ac:picMk id="6" creationId="{B4A84105-F697-6038-FA53-883DE08304A8}"/>
          </ac:picMkLst>
        </pc:picChg>
        <pc:picChg chg="add mod">
          <ac:chgData name="Elja Meuter" userId="b1e1bb923a19bf75" providerId="LiveId" clId="{D71E6ABD-519B-41F0-9374-E926C1080144}" dt="2026-05-18T07:24:21.719" v="9445" actId="14100"/>
          <ac:picMkLst>
            <pc:docMk/>
            <pc:sldMk cId="4112512561" sldId="257"/>
            <ac:picMk id="7" creationId="{B005335D-76EF-FEBD-F9F4-737A0A4E4CD1}"/>
          </ac:picMkLst>
        </pc:picChg>
        <pc:picChg chg="add mod ord">
          <ac:chgData name="Elja Meuter" userId="b1e1bb923a19bf75" providerId="LiveId" clId="{D71E6ABD-519B-41F0-9374-E926C1080144}" dt="2026-05-18T07:24:42.051" v="9569" actId="1036"/>
          <ac:picMkLst>
            <pc:docMk/>
            <pc:sldMk cId="4112512561" sldId="257"/>
            <ac:picMk id="8" creationId="{308E6AF5-BDC0-98E6-7276-17E80AE90DD1}"/>
          </ac:picMkLst>
        </pc:picChg>
        <pc:picChg chg="add del mod ord">
          <ac:chgData name="Elja Meuter" userId="b1e1bb923a19bf75" providerId="LiveId" clId="{D71E6ABD-519B-41F0-9374-E926C1080144}" dt="2026-05-18T07:28:11.472" v="9590" actId="14826"/>
          <ac:picMkLst>
            <pc:docMk/>
            <pc:sldMk cId="4112512561" sldId="257"/>
            <ac:picMk id="10" creationId="{4C8B8DA4-8A9F-A571-8BDA-5BE0C92907A4}"/>
          </ac:picMkLst>
        </pc:picChg>
      </pc:sldChg>
    </pc:docChg>
  </pc:docChgLst>
  <pc:docChgLst>
    <pc:chgData name="Tobias de Cock" userId="74095abf1f8f7986" providerId="LiveId" clId="{6CA3D613-126E-44D0-8891-B7ECF4335DC9}"/>
    <pc:docChg chg="undo custSel modSld">
      <pc:chgData name="Tobias de Cock" userId="74095abf1f8f7986" providerId="LiveId" clId="{6CA3D613-126E-44D0-8891-B7ECF4335DC9}" dt="2026-05-18T14:40:25.396" v="2952" actId="20577"/>
      <pc:docMkLst>
        <pc:docMk/>
      </pc:docMkLst>
      <pc:sldChg chg="addSp delSp modSp mod">
        <pc:chgData name="Tobias de Cock" userId="74095abf1f8f7986" providerId="LiveId" clId="{6CA3D613-126E-44D0-8891-B7ECF4335DC9}" dt="2026-05-18T14:40:25.396" v="2952" actId="20577"/>
        <pc:sldMkLst>
          <pc:docMk/>
          <pc:sldMk cId="1631260291" sldId="256"/>
        </pc:sldMkLst>
        <pc:spChg chg="mod">
          <ac:chgData name="Tobias de Cock" userId="74095abf1f8f7986" providerId="LiveId" clId="{6CA3D613-126E-44D0-8891-B7ECF4335DC9}" dt="2026-05-18T14:04:02.462" v="1957" actId="20577"/>
          <ac:spMkLst>
            <pc:docMk/>
            <pc:sldMk cId="1631260291" sldId="256"/>
            <ac:spMk id="2" creationId="{257CDFF9-337C-562C-2BEA-4394DD69AA20}"/>
          </ac:spMkLst>
        </pc:spChg>
        <pc:spChg chg="del">
          <ac:chgData name="Tobias de Cock" userId="74095abf1f8f7986" providerId="LiveId" clId="{6CA3D613-126E-44D0-8891-B7ECF4335DC9}" dt="2026-05-18T14:20:51.463" v="2594" actId="478"/>
          <ac:spMkLst>
            <pc:docMk/>
            <pc:sldMk cId="1631260291" sldId="256"/>
            <ac:spMk id="4" creationId="{3526855B-9F99-BDFF-14A5-A48A03F5DA01}"/>
          </ac:spMkLst>
        </pc:spChg>
        <pc:spChg chg="del">
          <ac:chgData name="Tobias de Cock" userId="74095abf1f8f7986" providerId="LiveId" clId="{6CA3D613-126E-44D0-8891-B7ECF4335DC9}" dt="2026-05-17T16:22:41.047" v="52" actId="478"/>
          <ac:spMkLst>
            <pc:docMk/>
            <pc:sldMk cId="1631260291" sldId="256"/>
            <ac:spMk id="5" creationId="{9A9E46D5-1BC2-881E-D9E1-DEC90261713B}"/>
          </ac:spMkLst>
        </pc:spChg>
        <pc:spChg chg="mod">
          <ac:chgData name="Tobias de Cock" userId="74095abf1f8f7986" providerId="LiveId" clId="{6CA3D613-126E-44D0-8891-B7ECF4335DC9}" dt="2026-05-17T16:47:06.762" v="885" actId="20577"/>
          <ac:spMkLst>
            <pc:docMk/>
            <pc:sldMk cId="1631260291" sldId="256"/>
            <ac:spMk id="6" creationId="{75A5A8A8-C19D-0F38-1307-604062B341FE}"/>
          </ac:spMkLst>
        </pc:spChg>
        <pc:spChg chg="del">
          <ac:chgData name="Tobias de Cock" userId="74095abf1f8f7986" providerId="LiveId" clId="{6CA3D613-126E-44D0-8891-B7ECF4335DC9}" dt="2026-05-17T16:22:38.236" v="50" actId="478"/>
          <ac:spMkLst>
            <pc:docMk/>
            <pc:sldMk cId="1631260291" sldId="256"/>
            <ac:spMk id="7" creationId="{182C3A3A-6252-CC8B-5537-3B067F8C112A}"/>
          </ac:spMkLst>
        </pc:spChg>
        <pc:spChg chg="mod">
          <ac:chgData name="Tobias de Cock" userId="74095abf1f8f7986" providerId="LiveId" clId="{6CA3D613-126E-44D0-8891-B7ECF4335DC9}" dt="2026-05-18T12:22:39.944" v="1034" actId="20577"/>
          <ac:spMkLst>
            <pc:docMk/>
            <pc:sldMk cId="1631260291" sldId="256"/>
            <ac:spMk id="9" creationId="{92C232B5-1E0E-ADAC-220A-118557C703BD}"/>
          </ac:spMkLst>
        </pc:spChg>
        <pc:spChg chg="mod">
          <ac:chgData name="Tobias de Cock" userId="74095abf1f8f7986" providerId="LiveId" clId="{6CA3D613-126E-44D0-8891-B7ECF4335DC9}" dt="2026-05-18T14:13:19.265" v="2195" actId="20577"/>
          <ac:spMkLst>
            <pc:docMk/>
            <pc:sldMk cId="1631260291" sldId="256"/>
            <ac:spMk id="10" creationId="{EEC861E3-4293-261B-8470-7D810DEF75E7}"/>
          </ac:spMkLst>
        </pc:spChg>
        <pc:spChg chg="mod">
          <ac:chgData name="Tobias de Cock" userId="74095abf1f8f7986" providerId="LiveId" clId="{6CA3D613-126E-44D0-8891-B7ECF4335DC9}" dt="2026-05-17T15:41:29.733" v="42" actId="255"/>
          <ac:spMkLst>
            <pc:docMk/>
            <pc:sldMk cId="1631260291" sldId="256"/>
            <ac:spMk id="13" creationId="{ED759B63-C847-80C1-30B5-B6ED7A60C236}"/>
          </ac:spMkLst>
        </pc:spChg>
        <pc:spChg chg="mod">
          <ac:chgData name="Tobias de Cock" userId="74095abf1f8f7986" providerId="LiveId" clId="{6CA3D613-126E-44D0-8891-B7ECF4335DC9}" dt="2026-05-18T14:34:23.139" v="2930" actId="14100"/>
          <ac:spMkLst>
            <pc:docMk/>
            <pc:sldMk cId="1631260291" sldId="256"/>
            <ac:spMk id="25" creationId="{77969D52-DE5C-42BF-121B-27045EB0367C}"/>
          </ac:spMkLst>
        </pc:spChg>
        <pc:spChg chg="mod">
          <ac:chgData name="Tobias de Cock" userId="74095abf1f8f7986" providerId="LiveId" clId="{6CA3D613-126E-44D0-8891-B7ECF4335DC9}" dt="2026-05-18T14:09:03.587" v="1963" actId="1076"/>
          <ac:spMkLst>
            <pc:docMk/>
            <pc:sldMk cId="1631260291" sldId="256"/>
            <ac:spMk id="26" creationId="{EA8F6643-E188-E9B9-4278-A3D486B64E53}"/>
          </ac:spMkLst>
        </pc:spChg>
        <pc:spChg chg="mod">
          <ac:chgData name="Tobias de Cock" userId="74095abf1f8f7986" providerId="LiveId" clId="{6CA3D613-126E-44D0-8891-B7ECF4335DC9}" dt="2026-05-18T12:29:25.990" v="1126" actId="1076"/>
          <ac:spMkLst>
            <pc:docMk/>
            <pc:sldMk cId="1631260291" sldId="256"/>
            <ac:spMk id="38" creationId="{B039DC59-8B27-C6AE-F950-07622A303ABE}"/>
          </ac:spMkLst>
        </pc:spChg>
        <pc:spChg chg="mod">
          <ac:chgData name="Tobias de Cock" userId="74095abf1f8f7986" providerId="LiveId" clId="{6CA3D613-126E-44D0-8891-B7ECF4335DC9}" dt="2026-05-17T15:37:07.398" v="6" actId="14100"/>
          <ac:spMkLst>
            <pc:docMk/>
            <pc:sldMk cId="1631260291" sldId="256"/>
            <ac:spMk id="43" creationId="{03457626-FDEA-D7AF-4DE0-5E7B18C81CB1}"/>
          </ac:spMkLst>
        </pc:spChg>
        <pc:spChg chg="mod">
          <ac:chgData name="Tobias de Cock" userId="74095abf1f8f7986" providerId="LiveId" clId="{6CA3D613-126E-44D0-8891-B7ECF4335DC9}" dt="2026-05-17T16:29:06.979" v="265" actId="1076"/>
          <ac:spMkLst>
            <pc:docMk/>
            <pc:sldMk cId="1631260291" sldId="256"/>
            <ac:spMk id="47" creationId="{5C947FBF-1ECA-BFC4-9160-8E6DDA7EBFF4}"/>
          </ac:spMkLst>
        </pc:spChg>
        <pc:spChg chg="mod">
          <ac:chgData name="Tobias de Cock" userId="74095abf1f8f7986" providerId="LiveId" clId="{6CA3D613-126E-44D0-8891-B7ECF4335DC9}" dt="2026-05-17T16:44:28.054" v="821" actId="20577"/>
          <ac:spMkLst>
            <pc:docMk/>
            <pc:sldMk cId="1631260291" sldId="256"/>
            <ac:spMk id="51" creationId="{2B0218E8-BF5D-8A0F-E683-278157EA5EF5}"/>
          </ac:spMkLst>
        </pc:spChg>
        <pc:spChg chg="mod">
          <ac:chgData name="Tobias de Cock" userId="74095abf1f8f7986" providerId="LiveId" clId="{6CA3D613-126E-44D0-8891-B7ECF4335DC9}" dt="2026-05-17T16:37:27.861" v="527" actId="14100"/>
          <ac:spMkLst>
            <pc:docMk/>
            <pc:sldMk cId="1631260291" sldId="256"/>
            <ac:spMk id="72" creationId="{ACF80A8F-DEC9-6010-BB3D-BD6774C81B3E}"/>
          </ac:spMkLst>
        </pc:spChg>
        <pc:spChg chg="mod">
          <ac:chgData name="Tobias de Cock" userId="74095abf1f8f7986" providerId="LiveId" clId="{6CA3D613-126E-44D0-8891-B7ECF4335DC9}" dt="2026-05-18T14:33:30.331" v="2928" actId="20577"/>
          <ac:spMkLst>
            <pc:docMk/>
            <pc:sldMk cId="1631260291" sldId="256"/>
            <ac:spMk id="81" creationId="{B443C48D-509F-9554-A716-3712A4A284E5}"/>
          </ac:spMkLst>
        </pc:spChg>
        <pc:spChg chg="mod">
          <ac:chgData name="Tobias de Cock" userId="74095abf1f8f7986" providerId="LiveId" clId="{6CA3D613-126E-44D0-8891-B7ECF4335DC9}" dt="2026-05-18T14:33:49.685" v="2929" actId="20577"/>
          <ac:spMkLst>
            <pc:docMk/>
            <pc:sldMk cId="1631260291" sldId="256"/>
            <ac:spMk id="82" creationId="{EDBEE8A4-9524-7B70-8E91-5870476C097D}"/>
          </ac:spMkLst>
        </pc:spChg>
        <pc:graphicFrameChg chg="mod modGraphic">
          <ac:chgData name="Tobias de Cock" userId="74095abf1f8f7986" providerId="LiveId" clId="{6CA3D613-126E-44D0-8891-B7ECF4335DC9}" dt="2026-05-18T14:40:25.396" v="2952" actId="20577"/>
          <ac:graphicFrameMkLst>
            <pc:docMk/>
            <pc:sldMk cId="1631260291" sldId="256"/>
            <ac:graphicFrameMk id="3" creationId="{94A2B041-0A3D-4469-7F39-F62F5BC2501A}"/>
          </ac:graphicFrameMkLst>
        </pc:graphicFrameChg>
        <pc:picChg chg="add del mod">
          <ac:chgData name="Tobias de Cock" userId="74095abf1f8f7986" providerId="LiveId" clId="{6CA3D613-126E-44D0-8891-B7ECF4335DC9}" dt="2026-05-17T17:07:07.833" v="1006" actId="478"/>
          <ac:picMkLst>
            <pc:docMk/>
            <pc:sldMk cId="1631260291" sldId="256"/>
            <ac:picMk id="7" creationId="{8AD46BA4-7459-E692-8DCB-F3D90CAAEBC4}"/>
          </ac:picMkLst>
        </pc:picChg>
        <pc:picChg chg="mod">
          <ac:chgData name="Tobias de Cock" userId="74095abf1f8f7986" providerId="LiveId" clId="{6CA3D613-126E-44D0-8891-B7ECF4335DC9}" dt="2026-05-18T14:05:35.402" v="1962" actId="1076"/>
          <ac:picMkLst>
            <pc:docMk/>
            <pc:sldMk cId="1631260291" sldId="256"/>
            <ac:picMk id="14" creationId="{CE8CF416-836D-AFEE-A1C3-3C92DDBF7BAD}"/>
          </ac:picMkLst>
        </pc:picChg>
        <pc:picChg chg="add del mod">
          <ac:chgData name="Tobias de Cock" userId="74095abf1f8f7986" providerId="LiveId" clId="{6CA3D613-126E-44D0-8891-B7ECF4335DC9}" dt="2026-05-17T17:07:05.491" v="1004" actId="478"/>
          <ac:picMkLst>
            <pc:docMk/>
            <pc:sldMk cId="1631260291" sldId="256"/>
            <ac:picMk id="18" creationId="{587D1E60-93D2-E827-EF0F-C1345342DB9A}"/>
          </ac:picMkLst>
        </pc:picChg>
        <pc:picChg chg="add del mod">
          <ac:chgData name="Tobias de Cock" userId="74095abf1f8f7986" providerId="LiveId" clId="{6CA3D613-126E-44D0-8891-B7ECF4335DC9}" dt="2026-05-17T17:07:06.610" v="1005" actId="478"/>
          <ac:picMkLst>
            <pc:docMk/>
            <pc:sldMk cId="1631260291" sldId="256"/>
            <ac:picMk id="21" creationId="{CD3548CB-9F57-BB34-B1F4-9BA85ACF16F0}"/>
          </ac:picMkLst>
        </pc:picChg>
        <pc:picChg chg="add del mod">
          <ac:chgData name="Tobias de Cock" userId="74095abf1f8f7986" providerId="LiveId" clId="{6CA3D613-126E-44D0-8891-B7ECF4335DC9}" dt="2026-05-17T16:16:27.593" v="46" actId="478"/>
          <ac:picMkLst>
            <pc:docMk/>
            <pc:sldMk cId="1631260291" sldId="256"/>
            <ac:picMk id="24" creationId="{731DE547-645B-25AA-2E63-A0A0D6446EFF}"/>
          </ac:picMkLst>
        </pc:picChg>
        <pc:picChg chg="add del mod">
          <ac:chgData name="Tobias de Cock" userId="74095abf1f8f7986" providerId="LiveId" clId="{6CA3D613-126E-44D0-8891-B7ECF4335DC9}" dt="2026-05-17T17:10:01.224" v="1020" actId="478"/>
          <ac:picMkLst>
            <pc:docMk/>
            <pc:sldMk cId="1631260291" sldId="256"/>
            <ac:picMk id="25" creationId="{182F80B8-9557-17E8-B7A6-D08083839A47}"/>
          </ac:picMkLst>
        </pc:picChg>
        <pc:picChg chg="add del mod">
          <ac:chgData name="Tobias de Cock" userId="74095abf1f8f7986" providerId="LiveId" clId="{6CA3D613-126E-44D0-8891-B7ECF4335DC9}" dt="2026-05-17T17:09:39.295" v="1016" actId="478"/>
          <ac:picMkLst>
            <pc:docMk/>
            <pc:sldMk cId="1631260291" sldId="256"/>
            <ac:picMk id="26" creationId="{852A3207-F592-37E5-BE26-31915EFF35A9}"/>
          </ac:picMkLst>
        </pc:picChg>
        <pc:picChg chg="add mod">
          <ac:chgData name="Tobias de Cock" userId="74095abf1f8f7986" providerId="LiveId" clId="{6CA3D613-126E-44D0-8891-B7ECF4335DC9}" dt="2026-05-17T17:12:44.054" v="1031" actId="14100"/>
          <ac:picMkLst>
            <pc:docMk/>
            <pc:sldMk cId="1631260291" sldId="256"/>
            <ac:picMk id="28" creationId="{81D6B83C-5842-E5B0-D913-111BD46C8DC1}"/>
          </ac:picMkLst>
        </pc:picChg>
        <pc:picChg chg="add mod">
          <ac:chgData name="Tobias de Cock" userId="74095abf1f8f7986" providerId="LiveId" clId="{6CA3D613-126E-44D0-8891-B7ECF4335DC9}" dt="2026-05-17T17:10:05.192" v="1021" actId="1076"/>
          <ac:picMkLst>
            <pc:docMk/>
            <pc:sldMk cId="1631260291" sldId="256"/>
            <ac:picMk id="30" creationId="{A53BF8A8-1E80-08BE-5B95-28ABA1130BFA}"/>
          </ac:picMkLst>
        </pc:picChg>
        <pc:picChg chg="add mod">
          <ac:chgData name="Tobias de Cock" userId="74095abf1f8f7986" providerId="LiveId" clId="{6CA3D613-126E-44D0-8891-B7ECF4335DC9}" dt="2026-05-17T17:12:49.593" v="1032" actId="14100"/>
          <ac:picMkLst>
            <pc:docMk/>
            <pc:sldMk cId="1631260291" sldId="256"/>
            <ac:picMk id="32" creationId="{B159EC36-2432-212A-875E-29EBA97128F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00D2EB66-73ED-4501-88BB-5CA3983A06AE}" type="datetimeFigureOut">
              <a:rPr lang="en-US" smtClean="0"/>
              <a:t>5/18/2026</a:t>
            </a:fld>
            <a:endParaRPr lang="en-US"/>
          </a:p>
        </p:txBody>
      </p:sp>
      <p:sp>
        <p:nvSpPr>
          <p:cNvPr id="4" name="Folienbildplatzhalter 3"/>
          <p:cNvSpPr>
            <a:spLocks noGrp="1" noRot="1" noChangeAspect="1"/>
          </p:cNvSpPr>
          <p:nvPr>
            <p:ph type="sldImg" idx="2"/>
          </p:nvPr>
        </p:nvSpPr>
        <p:spPr>
          <a:xfrm>
            <a:off x="2333625" y="1279525"/>
            <a:ext cx="24384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1C45D65C-AA27-466F-A034-108F18461898}" type="slidenum">
              <a:rPr lang="en-US" smtClean="0"/>
              <a:t>‹Nr.›</a:t>
            </a:fld>
            <a:endParaRPr lang="en-US"/>
          </a:p>
        </p:txBody>
      </p:sp>
    </p:spTree>
    <p:extLst>
      <p:ext uri="{BB962C8B-B14F-4D97-AF65-F5344CB8AC3E}">
        <p14:creationId xmlns:p14="http://schemas.microsoft.com/office/powerpoint/2010/main" val="12316471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izenplatzhalter 2"/>
              <p:cNvSpPr>
                <a:spLocks noGrp="1"/>
              </p:cNvSpPr>
              <p:nvPr>
                <p:ph type="body" idx="1"/>
              </p:nvPr>
            </p:nvSpPr>
            <p:spPr/>
            <p:txBody>
              <a:bodyPr/>
              <a:lstStyle/>
              <a:p>
                <a:r>
                  <a:rPr lang="en-US" sz="3200" b="1" dirty="0"/>
                  <a:t>Results</a:t>
                </a:r>
                <a:r>
                  <a:rPr lang="en-US" dirty="0"/>
                  <a:t> </a:t>
                </a:r>
              </a:p>
              <a:p>
                <a:r>
                  <a:rPr kumimoji="0" lang="en-US" sz="120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We find that SB9 is  biased </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towards lower eccentricities,</a:t>
                </a:r>
              </a:p>
              <a:p>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with a very strong preference for </a:t>
                </a:r>
                <a14:m>
                  <m:oMath xmlns:m="http://schemas.openxmlformats.org/officeDocument/2006/math">
                    <m:r>
                      <a:rPr kumimoji="0" lang="en-US" sz="12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r>
                      <a:rPr kumimoji="0" lang="en-US" sz="12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oMath>
                </a14:m>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ORB6 is biased</a:t>
                </a:r>
                <a:r>
                  <a:rPr kumimoji="0" lang="en-US" sz="1200" b="0" i="0" u="none" strike="noStrike" kern="1200" cap="none" spc="0" normalizeH="0" noProof="0" dirty="0">
                    <a:ln>
                      <a:noFill/>
                    </a:ln>
                    <a:solidFill>
                      <a:prstClr val="black"/>
                    </a:solidFill>
                    <a:effectLst/>
                    <a:uLnTx/>
                    <a:uFillTx/>
                    <a:latin typeface="Garamond" panose="02020404030301010803" pitchFamily="18" charset="0"/>
                    <a:ea typeface="+mn-ea"/>
                    <a:cs typeface="+mn-cs"/>
                  </a:rPr>
                  <a:t> </a:t>
                </a:r>
              </a:p>
              <a:p>
                <a:r>
                  <a:rPr lang="en-US" sz="1200" dirty="0">
                    <a:latin typeface="Garamond" panose="02020404030301010803" pitchFamily="18" charset="0"/>
                  </a:rPr>
                  <a:t>We find that ORB6 is biased towards middle eccentricities, between 0.2 and 0.6.. There is a preference for circular orbits. It is also biased towards shorter periods</a:t>
                </a:r>
              </a:p>
              <a:p>
                <a:endParaRPr lang="en-US" dirty="0"/>
              </a:p>
              <a:p>
                <a:endParaRPr lang="en-US" dirty="0"/>
              </a:p>
            </p:txBody>
          </p:sp>
        </mc:Choice>
        <mc:Fallback xmlns="">
          <p:sp>
            <p:nvSpPr>
              <p:cNvPr id="3" name="Notizenplatzhalter 2"/>
              <p:cNvSpPr>
                <a:spLocks noGrp="1"/>
              </p:cNvSpPr>
              <p:nvPr>
                <p:ph type="body" idx="1"/>
              </p:nvPr>
            </p:nvSpPr>
            <p:spPr/>
            <p:txBody>
              <a:bodyPr/>
              <a:lstStyle/>
              <a:p>
                <a:r>
                  <a:rPr lang="en-US" sz="3200" b="1" dirty="0"/>
                  <a:t>Results</a:t>
                </a:r>
                <a:r>
                  <a:rPr lang="en-US" dirty="0"/>
                  <a:t> </a:t>
                </a:r>
              </a:p>
              <a:p>
                <a:r>
                  <a:rPr kumimoji="0" lang="en-US" sz="120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We find that SB9 is  biased </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towards lower eccentricities,</a:t>
                </a:r>
              </a:p>
              <a:p>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with a very strong preference for </a:t>
                </a:r>
                <a:r>
                  <a:rPr kumimoji="0" lang="en-US" sz="1200" b="0" i="0" u="none" strike="noStrike" kern="1200" cap="none" spc="0" normalizeH="0" baseline="0" noProof="0">
                    <a:ln>
                      <a:noFill/>
                    </a:ln>
                    <a:solidFill>
                      <a:prstClr val="black"/>
                    </a:solidFill>
                    <a:effectLst/>
                    <a:uLnTx/>
                    <a:uFillTx/>
                    <a:latin typeface="Cambria Math" panose="02040503050406030204" pitchFamily="18" charset="0"/>
                    <a:ea typeface="+mn-ea"/>
                    <a:cs typeface="+mn-cs"/>
                  </a:rPr>
                  <a:t>𝑒=0</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ORB6 is biased</a:t>
                </a:r>
                <a:r>
                  <a:rPr kumimoji="0" lang="en-US" sz="1200" b="0" i="0" u="none" strike="noStrike" kern="1200" cap="none" spc="0" normalizeH="0" noProof="0" dirty="0">
                    <a:ln>
                      <a:noFill/>
                    </a:ln>
                    <a:solidFill>
                      <a:prstClr val="black"/>
                    </a:solidFill>
                    <a:effectLst/>
                    <a:uLnTx/>
                    <a:uFillTx/>
                    <a:latin typeface="Garamond" panose="02020404030301010803" pitchFamily="18" charset="0"/>
                    <a:ea typeface="+mn-ea"/>
                    <a:cs typeface="+mn-cs"/>
                  </a:rPr>
                  <a:t> </a:t>
                </a:r>
              </a:p>
              <a:p>
                <a:r>
                  <a:rPr lang="en-US" sz="1200" dirty="0">
                    <a:latin typeface="Garamond" panose="02020404030301010803" pitchFamily="18" charset="0"/>
                  </a:rPr>
                  <a:t>We find that ORB6 is biased towards middle eccentricities, between 0.2 and 0.6.. There is a preference for circular orbits. It is also biased towards shorter periods</a:t>
                </a:r>
              </a:p>
              <a:p>
                <a:endParaRPr lang="en-US" dirty="0"/>
              </a:p>
              <a:p>
                <a:endParaRPr lang="en-US" dirty="0"/>
              </a:p>
            </p:txBody>
          </p:sp>
        </mc:Fallback>
      </mc:AlternateContent>
      <p:sp>
        <p:nvSpPr>
          <p:cNvPr id="4" name="Foliennummernplatzhalter 3"/>
          <p:cNvSpPr>
            <a:spLocks noGrp="1"/>
          </p:cNvSpPr>
          <p:nvPr>
            <p:ph type="sldNum" sz="quarter" idx="5"/>
          </p:nvPr>
        </p:nvSpPr>
        <p:spPr/>
        <p:txBody>
          <a:bodyPr/>
          <a:lstStyle/>
          <a:p>
            <a:fld id="{1C45D65C-AA27-466F-A034-108F18461898}" type="slidenum">
              <a:rPr lang="en-US" smtClean="0"/>
              <a:t>1</a:t>
            </a:fld>
            <a:endParaRPr lang="en-US"/>
          </a:p>
        </p:txBody>
      </p:sp>
    </p:spTree>
    <p:extLst>
      <p:ext uri="{BB962C8B-B14F-4D97-AF65-F5344CB8AC3E}">
        <p14:creationId xmlns:p14="http://schemas.microsoft.com/office/powerpoint/2010/main" val="3126494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5/18/2026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image" Target="../media/image4.png"/><Relationship Id="rId12" Type="http://schemas.openxmlformats.org/officeDocument/2006/relationships/image" Target="../media/image9.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png"/><Relationship Id="rId10" Type="http://schemas.openxmlformats.org/officeDocument/2006/relationships/image" Target="../media/image7.svg"/><Relationship Id="rId9" Type="http://schemas.openxmlformats.org/officeDocument/2006/relationships/image" Target="../media/image6.svg"/></Relationships>
</file>

<file path=ppt/slides/_rels/slide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sv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25" name="Rechteck 24">
            <a:extLst>
              <a:ext uri="{FF2B5EF4-FFF2-40B4-BE49-F238E27FC236}">
                <a16:creationId xmlns:a16="http://schemas.microsoft.com/office/drawing/2014/main" id="{77969D52-DE5C-42BF-121B-27045EB0367C}"/>
              </a:ext>
            </a:extLst>
          </p:cNvPr>
          <p:cNvSpPr/>
          <p:nvPr/>
        </p:nvSpPr>
        <p:spPr>
          <a:xfrm>
            <a:off x="105077" y="17783672"/>
            <a:ext cx="21110615" cy="638580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Ellipse 39">
            <a:extLst>
              <a:ext uri="{FF2B5EF4-FFF2-40B4-BE49-F238E27FC236}">
                <a16:creationId xmlns:a16="http://schemas.microsoft.com/office/drawing/2014/main" id="{F27323A8-4E37-7C83-308C-B4A73170034C}"/>
              </a:ext>
            </a:extLst>
          </p:cNvPr>
          <p:cNvSpPr/>
          <p:nvPr/>
        </p:nvSpPr>
        <p:spPr>
          <a:xfrm rot="20355398">
            <a:off x="-4251929" y="6888166"/>
            <a:ext cx="18307299" cy="10062396"/>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7079" y="7101030"/>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828207" y="2822741"/>
            <a:ext cx="14831729" cy="11658798"/>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6105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463367"/>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50507" y="4073185"/>
            <a:ext cx="12817843" cy="3662541"/>
          </a:xfrm>
          <a:prstGeom prst="rect">
            <a:avLst/>
          </a:prstGeom>
          <a:noFill/>
          <a:ln>
            <a:noFill/>
          </a:ln>
        </p:spPr>
        <p:txBody>
          <a:bodyPr wrap="square" rtlCol="0">
            <a:spAutoFit/>
          </a:bodyPr>
          <a:lstStyle/>
          <a:p>
            <a:r>
              <a:rPr lang="en-US" sz="6000" b="1" dirty="0">
                <a:latin typeface="Garamond" panose="02020404030301010803" pitchFamily="18" charset="0"/>
              </a:rPr>
              <a:t>Introduction</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Garamond" panose="02020404030301010803" pitchFamily="18" charset="0"/>
              </a:rPr>
              <a:t>When observing stars, we only find those that are significantly detectible with our current detection methods. This introduces a bias in the acquired data. The goal of this research project is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Garamond" panose="02020404030301010803" pitchFamily="18" charset="0"/>
              </a:rPr>
              <a:t>to quantify that bias.</a:t>
            </a:r>
            <a:endParaRPr kumimoji="0" lang="en-US" sz="3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endParaRPr>
          </a:p>
          <a:p>
            <a:endParaRPr lang="en-US" sz="4400" b="1" dirty="0">
              <a:latin typeface="Garamond" panose="02020404030301010803" pitchFamily="18" charset="0"/>
            </a:endParaRPr>
          </a:p>
        </p:txBody>
      </p:sp>
      <p:sp>
        <p:nvSpPr>
          <p:cNvPr id="49" name="Textfeld 48">
            <a:extLst>
              <a:ext uri="{FF2B5EF4-FFF2-40B4-BE49-F238E27FC236}">
                <a16:creationId xmlns:a16="http://schemas.microsoft.com/office/drawing/2014/main" id="{88C5AEBA-A112-FD1B-09E6-C2287DC238E3}"/>
              </a:ext>
            </a:extLst>
          </p:cNvPr>
          <p:cNvSpPr txBox="1"/>
          <p:nvPr/>
        </p:nvSpPr>
        <p:spPr>
          <a:xfrm>
            <a:off x="14489982" y="3794719"/>
            <a:ext cx="6289758" cy="2000548"/>
          </a:xfrm>
          <a:prstGeom prst="rect">
            <a:avLst/>
          </a:prstGeom>
          <a:noFill/>
        </p:spPr>
        <p:txBody>
          <a:bodyPr wrap="square">
            <a:spAutoFit/>
          </a:bodyPr>
          <a:lstStyle/>
          <a:p>
            <a:pPr algn="r"/>
            <a:r>
              <a:rPr lang="en-US" sz="6000" b="1" dirty="0">
                <a:latin typeface="Garamond" panose="02020404030301010803" pitchFamily="18" charset="0"/>
              </a:rPr>
              <a:t>Aim</a:t>
            </a:r>
          </a:p>
          <a:p>
            <a:pPr algn="r">
              <a:spcAft>
                <a:spcPts val="1125"/>
              </a:spcAft>
              <a:buNone/>
            </a:pPr>
            <a:r>
              <a:rPr lang="en-US" sz="32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2440997" y="6663083"/>
            <a:ext cx="9098663" cy="2985433"/>
          </a:xfrm>
          <a:prstGeom prst="rect">
            <a:avLst/>
          </a:prstGeom>
          <a:noFill/>
        </p:spPr>
        <p:txBody>
          <a:bodyPr wrap="square">
            <a:spAutoFit/>
          </a:bodyPr>
          <a:lstStyle/>
          <a:p>
            <a:pPr algn="r"/>
            <a:r>
              <a:rPr lang="en-US" sz="6000" b="1" dirty="0">
                <a:latin typeface="Garamond" panose="02020404030301010803" pitchFamily="18" charset="0"/>
              </a:rPr>
              <a:t>Method</a:t>
            </a:r>
          </a:p>
          <a:p>
            <a:pPr algn="r"/>
            <a:r>
              <a:rPr lang="en-US" sz="3200" b="0" i="0" dirty="0">
                <a:solidFill>
                  <a:srgbClr val="000000"/>
                </a:solidFill>
                <a:effectLst/>
                <a:latin typeface="Garamond" panose="02020404030301010803" pitchFamily="18" charset="0"/>
              </a:rPr>
              <a:t>We find the theoretical </a:t>
            </a:r>
            <a:r>
              <a:rPr lang="en-US" sz="3200" dirty="0">
                <a:solidFill>
                  <a:srgbClr val="000000"/>
                </a:solidFill>
                <a:latin typeface="Garamond" panose="02020404030301010803" pitchFamily="18" charset="0"/>
              </a:rPr>
              <a:t>PDF’s of each parameter and compare its prediction to the data from the database. This is then plotted as the difference and represents the bias. </a:t>
            </a:r>
            <a:endParaRPr lang="en-US" sz="32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0998518" y="13906592"/>
            <a:ext cx="2922575" cy="1015663"/>
          </a:xfrm>
          <a:prstGeom prst="rect">
            <a:avLst/>
          </a:prstGeom>
          <a:noFill/>
          <a:ln>
            <a:noFill/>
          </a:ln>
        </p:spPr>
        <p:txBody>
          <a:bodyPr wrap="square" rtlCol="0">
            <a:spAutoFit/>
          </a:bodyPr>
          <a:lstStyle/>
          <a:p>
            <a:r>
              <a:rPr lang="en-US" sz="6000" b="1" dirty="0">
                <a:latin typeface="Garamond" panose="02020404030301010803" pitchFamily="18" charset="0"/>
              </a:rPr>
              <a:t>Results</a:t>
            </a:r>
          </a:p>
        </p:txBody>
      </p:sp>
      <p:sp>
        <p:nvSpPr>
          <p:cNvPr id="81" name="Textfeld 80">
            <a:extLst>
              <a:ext uri="{FF2B5EF4-FFF2-40B4-BE49-F238E27FC236}">
                <a16:creationId xmlns:a16="http://schemas.microsoft.com/office/drawing/2014/main" id="{B443C48D-509F-9554-A716-3712A4A284E5}"/>
              </a:ext>
            </a:extLst>
          </p:cNvPr>
          <p:cNvSpPr txBox="1"/>
          <p:nvPr/>
        </p:nvSpPr>
        <p:spPr>
          <a:xfrm>
            <a:off x="136936" y="24293390"/>
            <a:ext cx="12768766" cy="5447645"/>
          </a:xfrm>
          <a:prstGeom prst="rect">
            <a:avLst/>
          </a:prstGeom>
          <a:noFill/>
          <a:ln>
            <a:noFill/>
          </a:ln>
        </p:spPr>
        <p:txBody>
          <a:bodyPr wrap="square" rtlCol="0">
            <a:spAutoFit/>
          </a:bodyPr>
          <a:lstStyle/>
          <a:p>
            <a:r>
              <a:rPr lang="en-US" sz="6000" b="1" dirty="0">
                <a:latin typeface="Garamond" panose="02020404030301010803" pitchFamily="18" charset="0"/>
              </a:rPr>
              <a:t>Conclusion </a:t>
            </a:r>
            <a:r>
              <a:rPr lang="en-US" sz="6000" b="1" dirty="0">
                <a:highlight>
                  <a:srgbClr val="FFFF00"/>
                </a:highlight>
                <a:latin typeface="Garamond" panose="02020404030301010803" pitchFamily="18" charset="0"/>
              </a:rPr>
              <a:t>&amp; Discussion</a:t>
            </a:r>
          </a:p>
          <a:p>
            <a:r>
              <a:rPr lang="en-US" sz="3200" dirty="0">
                <a:latin typeface="Garamond" panose="02020404030301010803" pitchFamily="18" charset="0"/>
              </a:rPr>
              <a:t>For spectroscopic binaries we find more circular orbits, as their RV curve is easiest to detect. The eccentricity bias for visual binaries are strongly dependent on the period bias. This bias was confirmed by </a:t>
            </a:r>
            <a:r>
              <a:rPr lang="en-US" sz="3200" dirty="0" err="1">
                <a:latin typeface="Garamond" panose="02020404030301010803" pitchFamily="18" charset="0"/>
              </a:rPr>
              <a:t>Ruymaekers</a:t>
            </a:r>
            <a:r>
              <a:rPr lang="en-US" sz="3200" dirty="0">
                <a:latin typeface="Garamond" panose="02020404030301010803" pitchFamily="18" charset="0"/>
              </a:rPr>
              <a:t> G., Cuypers J., </a:t>
            </a:r>
            <a:r>
              <a:rPr lang="en-US" sz="3200" dirty="0" err="1">
                <a:latin typeface="Garamond" panose="02020404030301010803" pitchFamily="18" charset="0"/>
              </a:rPr>
              <a:t>Boffin</a:t>
            </a:r>
            <a:r>
              <a:rPr lang="en-US" sz="3200" dirty="0">
                <a:latin typeface="Garamond" panose="02020404030301010803" pitchFamily="18" charset="0"/>
              </a:rPr>
              <a:t> H. M. J.. We see fewer long period systems, as they either have not been observed for long enough, or because their RV signals are too weak. For mass ratios we need RV data of both stars, however one of the two might be too bright or be so massive that RV signals are too weak. For visual binaries we have a bias towards high radius ratios, while for spectroscopic binaries there is a bias for low radius ratios.</a:t>
            </a:r>
          </a:p>
        </p:txBody>
      </p:sp>
      <p:sp>
        <p:nvSpPr>
          <p:cNvPr id="82" name="Textfeld 81">
            <a:extLst>
              <a:ext uri="{FF2B5EF4-FFF2-40B4-BE49-F238E27FC236}">
                <a16:creationId xmlns:a16="http://schemas.microsoft.com/office/drawing/2014/main" id="{EDBEE8A4-9524-7B70-8E91-5870476C097D}"/>
              </a:ext>
            </a:extLst>
          </p:cNvPr>
          <p:cNvSpPr txBox="1"/>
          <p:nvPr/>
        </p:nvSpPr>
        <p:spPr>
          <a:xfrm>
            <a:off x="13031413" y="24180675"/>
            <a:ext cx="8283710" cy="7232749"/>
          </a:xfrm>
          <a:prstGeom prst="rect">
            <a:avLst/>
          </a:prstGeom>
          <a:noFill/>
          <a:ln>
            <a:noFill/>
          </a:ln>
        </p:spPr>
        <p:txBody>
          <a:bodyPr wrap="square" rtlCol="0">
            <a:spAutoFit/>
          </a:bodyPr>
          <a:lstStyle/>
          <a:p>
            <a:r>
              <a:rPr lang="en-US" sz="6000" b="1" dirty="0">
                <a:latin typeface="Garamond" panose="02020404030301010803" pitchFamily="18" charset="0"/>
              </a:rPr>
              <a:t>Acknowledgements &amp; References</a:t>
            </a:r>
          </a:p>
          <a:p>
            <a:r>
              <a:rPr lang="en-US" sz="3200" dirty="0">
                <a:latin typeface="Garamond" panose="02020404030301010803" pitchFamily="18" charset="0"/>
              </a:rPr>
              <a:t>We thank Oleg Malkov for his continued support to provide us with all the data from the </a:t>
            </a:r>
            <a:r>
              <a:rPr lang="en-US" sz="3200" dirty="0">
                <a:solidFill>
                  <a:srgbClr val="000000"/>
                </a:solidFill>
                <a:latin typeface="Garamond" panose="02020404030301010803" pitchFamily="18" charset="0"/>
              </a:rPr>
              <a:t>Binary Star Database BDB (Kovaleva et al, 2015), available from Institute of Astronomy (Russian Academy of Sciences),</a:t>
            </a:r>
            <a:r>
              <a:rPr lang="en-US" sz="3200" dirty="0">
                <a:latin typeface="Garamond" panose="02020404030301010803" pitchFamily="18" charset="0"/>
              </a:rPr>
              <a:t> used in this project and</a:t>
            </a:r>
          </a:p>
          <a:p>
            <a:r>
              <a:rPr lang="en-US" sz="3200" dirty="0">
                <a:latin typeface="Garamond" panose="02020404030301010803" pitchFamily="18" charset="0"/>
              </a:rPr>
              <a:t>Susana Monteiro Carneiro for her </a:t>
            </a:r>
          </a:p>
          <a:p>
            <a:r>
              <a:rPr lang="en-US" sz="3200" dirty="0">
                <a:latin typeface="Garamond" panose="02020404030301010803" pitchFamily="18" charset="0"/>
              </a:rPr>
              <a:t>support and feedback throughout the </a:t>
            </a:r>
          </a:p>
          <a:p>
            <a:r>
              <a:rPr lang="en-US" sz="3200" dirty="0">
                <a:latin typeface="Garamond" panose="02020404030301010803" pitchFamily="18" charset="0"/>
              </a:rPr>
              <a:t>entire duration of the project.</a:t>
            </a:r>
          </a:p>
          <a:p>
            <a:endParaRPr lang="en-US" sz="4400" dirty="0">
              <a:highlight>
                <a:srgbClr val="FFFF00"/>
              </a:highlight>
              <a:latin typeface="Garamond" panose="02020404030301010803" pitchFamily="18" charset="0"/>
            </a:endParaRPr>
          </a:p>
          <a:p>
            <a:endParaRPr lang="en-US" sz="4400" dirty="0">
              <a:latin typeface="Garamond" panose="02020404030301010803" pitchFamily="18" charset="0"/>
            </a:endParaRPr>
          </a:p>
        </p:txBody>
      </p:sp>
      <p:sp>
        <p:nvSpPr>
          <p:cNvPr id="6" name="Rechteck: abgerundete Ecken 5">
            <a:extLst>
              <a:ext uri="{FF2B5EF4-FFF2-40B4-BE49-F238E27FC236}">
                <a16:creationId xmlns:a16="http://schemas.microsoft.com/office/drawing/2014/main" id="{75A5A8A8-C19D-0F38-1307-604062B341FE}"/>
              </a:ext>
            </a:extLst>
          </p:cNvPr>
          <p:cNvSpPr/>
          <p:nvPr/>
        </p:nvSpPr>
        <p:spPr>
          <a:xfrm>
            <a:off x="13703578" y="5815459"/>
            <a:ext cx="7045131" cy="2485403"/>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0" i="0" dirty="0">
                <a:solidFill>
                  <a:srgbClr val="F0F6FC"/>
                </a:solidFill>
                <a:effectLst/>
                <a:latin typeface="Garamond" panose="02020404030301010803" pitchFamily="18" charset="0"/>
              </a:rPr>
              <a:t>What observational biases are present in the binary star catalogues of the binary star database, when compared to theoretically expected binary star populations? </a:t>
            </a:r>
            <a:endParaRPr lang="en-US" sz="3200"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4002849" y="8428892"/>
            <a:ext cx="6745859" cy="4031873"/>
          </a:xfrm>
          <a:prstGeom prst="rect">
            <a:avLst/>
          </a:prstGeom>
          <a:noFill/>
        </p:spPr>
        <p:txBody>
          <a:bodyPr wrap="square" rtlCol="0">
            <a:spAutoFit/>
          </a:bodyPr>
          <a:lstStyle/>
          <a:p>
            <a:pPr algn="r"/>
            <a:r>
              <a:rPr kumimoji="0" lang="en-US" sz="32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t>
            </a:r>
            <a:r>
              <a:rPr kumimoji="0" lang="en-US" sz="3200" b="0" i="0" u="none" strike="noStrike" kern="1200" cap="none" spc="0" normalizeH="0" baseline="0" noProof="0" dirty="0" err="1">
                <a:ln>
                  <a:noFill/>
                </a:ln>
                <a:solidFill>
                  <a:srgbClr val="000000"/>
                </a:solidFill>
                <a:effectLst/>
                <a:uLnTx/>
                <a:uFillTx/>
                <a:latin typeface="Garamond" panose="02020404030301010803" pitchFamily="18" charset="0"/>
                <a:ea typeface="+mn-ea"/>
                <a:cs typeface="+mn-cs"/>
              </a:rPr>
              <a:t>analyse</a:t>
            </a:r>
            <a:r>
              <a:rPr kumimoji="0" lang="en-US" sz="32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 the differences between observed and theoretical distributions of eccentricity, mass ratio, radius ratio, orbital period, and semi-major axis and the observational biases expected from the detection methods used in these catalogues.</a:t>
            </a:r>
            <a:endParaRPr lang="en-US" sz="3200" dirty="0"/>
          </a:p>
        </p:txBody>
      </p:sp>
      <p:sp>
        <p:nvSpPr>
          <p:cNvPr id="38" name="Ellipse 37">
            <a:extLst>
              <a:ext uri="{FF2B5EF4-FFF2-40B4-BE49-F238E27FC236}">
                <a16:creationId xmlns:a16="http://schemas.microsoft.com/office/drawing/2014/main" id="{B039DC59-8B27-C6AE-F950-07622A303ABE}"/>
              </a:ext>
            </a:extLst>
          </p:cNvPr>
          <p:cNvSpPr/>
          <p:nvPr/>
        </p:nvSpPr>
        <p:spPr>
          <a:xfrm>
            <a:off x="19707128" y="12106592"/>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304120" y="9715035"/>
            <a:ext cx="7742600" cy="1077218"/>
          </a:xfrm>
          <a:prstGeom prst="rect">
            <a:avLst/>
          </a:prstGeom>
          <a:noFill/>
        </p:spPr>
        <p:txBody>
          <a:bodyPr wrap="square">
            <a:spAutoFit/>
          </a:bodyPr>
          <a:lstStyle/>
          <a:p>
            <a:r>
              <a:rPr lang="en-US" sz="3200" b="1" i="1" dirty="0">
                <a:solidFill>
                  <a:srgbClr val="000000"/>
                </a:solidFill>
                <a:latin typeface="Garamond" panose="02020404030301010803" pitchFamily="18" charset="0"/>
              </a:rPr>
              <a:t>Table 1</a:t>
            </a:r>
            <a:r>
              <a:rPr lang="en-US" sz="3200" dirty="0">
                <a:solidFill>
                  <a:srgbClr val="000000"/>
                </a:solidFill>
                <a:latin typeface="Garamond" panose="02020404030301010803" pitchFamily="18" charset="0"/>
              </a:rPr>
              <a:t>. Theoretical distributions of binary star systems based on theory. </a:t>
            </a:r>
            <a:endParaRPr lang="en-US" sz="32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323396"/>
            <a:ext cx="15263409" cy="492443"/>
          </a:xfrm>
          <a:prstGeom prst="rect">
            <a:avLst/>
          </a:prstGeom>
          <a:noFill/>
        </p:spPr>
        <p:txBody>
          <a:bodyPr wrap="none" rtlCol="0">
            <a:spAutoFit/>
          </a:bodyPr>
          <a:lstStyle/>
          <a:p>
            <a:r>
              <a:rPr lang="en-US" sz="2600" dirty="0">
                <a:latin typeface="Garamond" panose="02020404030301010803" pitchFamily="18" charset="0"/>
              </a:rPr>
              <a:t>Authors: Tobias de Cock (s4438361) , Elja Meuter (s4500229), Damian </a:t>
            </a:r>
            <a:r>
              <a:rPr lang="en-US" sz="2600" dirty="0" err="1">
                <a:latin typeface="Garamond" panose="02020404030301010803" pitchFamily="18" charset="0"/>
              </a:rPr>
              <a:t>Sloos</a:t>
            </a:r>
            <a:r>
              <a:rPr lang="en-US" sz="2600" dirty="0">
                <a:latin typeface="Garamond" panose="02020404030301010803" pitchFamily="18" charset="0"/>
              </a:rPr>
              <a:t> (s4406435),  Wouter de Wit (s3519767)</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469427" y="207020"/>
            <a:ext cx="4702967" cy="2078055"/>
          </a:xfrm>
          <a:prstGeom prst="rect">
            <a:avLst/>
          </a:prstGeom>
        </p:spPr>
      </p:pic>
      <mc:AlternateContent xmlns:mc="http://schemas.openxmlformats.org/markup-compatibility/2006" xmlns:a14="http://schemas.microsoft.com/office/drawing/2010/main">
        <mc:Choice Requires="a14">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924226555"/>
                  </p:ext>
                </p:extLst>
              </p:nvPr>
            </p:nvGraphicFramePr>
            <p:xfrm>
              <a:off x="26383194" y="18150875"/>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pPr algn="ctr"/>
                          <a:r>
                            <a:rPr lang="en-US" sz="3200" b="1" i="0" dirty="0">
                              <a:latin typeface="Garamond" panose="02020404030301010803" pitchFamily="18" charset="0"/>
                            </a:rPr>
                            <a:t>SB9</a:t>
                          </a:r>
                        </a:p>
                        <a:p>
                          <a:pPr algn="l">
                            <a:spcAft>
                              <a:spcPts val="1125"/>
                            </a:spcAft>
                            <a:buNone/>
                          </a:pPr>
                          <a:r>
                            <a:rPr lang="en-US" sz="3200" dirty="0">
                              <a:latin typeface="Garamond" panose="02020404030301010803" pitchFamily="18" charset="0"/>
                            </a:rPr>
                            <a:t>We find that SB9 is biased…</a:t>
                          </a:r>
                        </a:p>
                        <a:p>
                          <a:pPr algn="l">
                            <a:spcAft>
                              <a:spcPts val="1125"/>
                            </a:spcAft>
                            <a:buNone/>
                          </a:pPr>
                          <a:r>
                            <a:rPr lang="en-US" sz="3200" dirty="0">
                              <a:latin typeface="Garamond" panose="02020404030301010803" pitchFamily="18" charset="0"/>
                            </a:rPr>
                            <a:t>…towards lower eccentricities, with a very strong preference for </a:t>
                          </a:r>
                          <a14:m>
                            <m:oMath xmlns:m="http://schemas.openxmlformats.org/officeDocument/2006/math">
                              <m:r>
                                <a:rPr lang="en-US" sz="3200" b="0" i="1" smtClean="0">
                                  <a:latin typeface="Cambria Math" panose="02040503050406030204" pitchFamily="18" charset="0"/>
                                </a:rPr>
                                <m:t>𝑒</m:t>
                              </m:r>
                              <m:r>
                                <a:rPr lang="en-US" sz="3200" b="0" i="1" smtClean="0">
                                  <a:latin typeface="Cambria Math" panose="02040503050406030204" pitchFamily="18" charset="0"/>
                                </a:rPr>
                                <m:t>=0</m:t>
                              </m:r>
                            </m:oMath>
                          </a14:m>
                          <a:r>
                            <a:rPr lang="en-US" sz="3200" dirty="0">
                              <a:latin typeface="Garamond" panose="02020404030301010803" pitchFamily="18" charset="0"/>
                            </a:rPr>
                            <a:t>. </a:t>
                          </a:r>
                        </a:p>
                        <a:p>
                          <a:pPr algn="l">
                            <a:spcAft>
                              <a:spcPts val="1125"/>
                            </a:spcAft>
                            <a:buNone/>
                          </a:pPr>
                          <a:endParaRPr lang="en-US" sz="3200" dirty="0">
                            <a:latin typeface="Garamond" panose="02020404030301010803" pitchFamily="18" charset="0"/>
                          </a:endParaRPr>
                        </a:p>
                        <a:p>
                          <a:pPr algn="l">
                            <a:spcAft>
                              <a:spcPts val="1125"/>
                            </a:spcAft>
                            <a:buNone/>
                          </a:pPr>
                          <a:r>
                            <a:rPr lang="en-US" sz="3200" dirty="0">
                              <a:latin typeface="Garamond" panose="02020404030301010803" pitchFamily="18" charset="0"/>
                            </a:rPr>
                            <a:t> Biased towards inclination of 90°</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solidFill>
                          <a:srgbClr val="F2EBE2"/>
                        </a:solidFill>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middle eccentricities, between 0.2 and 0.6.. There is a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solidFill>
                          <a:srgbClr val="F2EBE2"/>
                        </a:solidFill>
                      </a:tcPr>
                    </a:tc>
                    <a:extLst>
                      <a:ext uri="{0D108BD9-81ED-4DB2-BD59-A6C34878D82A}">
                        <a16:rowId xmlns:a16="http://schemas.microsoft.com/office/drawing/2014/main" val="3166390322"/>
                      </a:ext>
                    </a:extLst>
                  </a:tr>
                </a:tbl>
              </a:graphicData>
            </a:graphic>
          </p:graphicFrame>
        </mc:Choice>
        <mc:Fallback xmlns="">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924226555"/>
                  </p:ext>
                </p:extLst>
              </p:nvPr>
            </p:nvGraphicFramePr>
            <p:xfrm>
              <a:off x="26383194" y="18150875"/>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endParaRPr lang="en-US"/>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blipFill>
                          <a:blip r:embed="rId5"/>
                          <a:stretch>
                            <a:fillRect t="-899" r="-100000" b="-75"/>
                          </a:stretch>
                        </a:blipFill>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middle eccentricities, between 0.2 and 0.6.. There is a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solidFill>
                          <a:srgbClr val="F2EBE2"/>
                        </a:solidFill>
                      </a:tcPr>
                    </a:tc>
                    <a:extLst>
                      <a:ext uri="{0D108BD9-81ED-4DB2-BD59-A6C34878D82A}">
                        <a16:rowId xmlns:a16="http://schemas.microsoft.com/office/drawing/2014/main" val="3166390322"/>
                      </a:ext>
                    </a:extLst>
                  </a:tr>
                </a:tbl>
              </a:graphicData>
            </a:graphic>
          </p:graphicFrame>
        </mc:Fallback>
      </mc:AlternateContent>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6">
            <a:duotone>
              <a:prstClr val="black"/>
              <a:srgbClr val="F2EBE2">
                <a:tint val="45000"/>
                <a:satMod val="400000"/>
              </a:srgbClr>
            </a:duotone>
          </a:blip>
          <a:stretch>
            <a:fillRect/>
          </a:stretch>
        </p:blipFill>
        <p:spPr>
          <a:xfrm>
            <a:off x="19120713" y="28119688"/>
            <a:ext cx="2000265" cy="2038365"/>
          </a:xfrm>
          <a:prstGeom prst="rect">
            <a:avLst/>
          </a:prstGeom>
        </p:spPr>
      </p:pic>
      <mc:AlternateContent xmlns:mc="http://schemas.openxmlformats.org/markup-compatibility/2006">
        <mc:Choice xmlns:a14="http://schemas.microsoft.com/office/drawing/2010/main" Requires="a14">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282175471"/>
                  </p:ext>
                </p:extLst>
              </p:nvPr>
            </p:nvGraphicFramePr>
            <p:xfrm>
              <a:off x="21924" y="10841916"/>
              <a:ext cx="11749341" cy="6259611"/>
            </p:xfrm>
            <a:graphic>
              <a:graphicData uri="http://schemas.openxmlformats.org/drawingml/2006/table">
                <a:tbl>
                  <a:tblPr firstRow="1" bandRow="1">
                    <a:tableStyleId>{2D5ABB26-0587-4C30-8999-92F81FD0307C}</a:tableStyleId>
                  </a:tblPr>
                  <a:tblGrid>
                    <a:gridCol w="3661426">
                      <a:extLst>
                        <a:ext uri="{9D8B030D-6E8A-4147-A177-3AD203B41FA5}">
                          <a16:colId xmlns:a16="http://schemas.microsoft.com/office/drawing/2014/main" val="1884549708"/>
                        </a:ext>
                      </a:extLst>
                    </a:gridCol>
                    <a:gridCol w="8087915">
                      <a:extLst>
                        <a:ext uri="{9D8B030D-6E8A-4147-A177-3AD203B41FA5}">
                          <a16:colId xmlns:a16="http://schemas.microsoft.com/office/drawing/2014/main" val="3529507465"/>
                        </a:ext>
                      </a:extLst>
                    </a:gridCol>
                  </a:tblGrid>
                  <a:tr h="654585">
                    <a:tc>
                      <a:txBody>
                        <a:bodyPr/>
                        <a:lstStyle/>
                        <a:p>
                          <a:pPr algn="ctr"/>
                          <a:r>
                            <a:rPr lang="en-US" sz="3200" b="1" dirty="0"/>
                            <a:t>Parameter</a:t>
                          </a:r>
                          <a:endParaRPr lang="en-US" sz="3200" b="1"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1332999">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marL="0" marR="0" lvl="0" indent="0" algn="l" defTabSz="2138324"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800" b="0" smtClean="0">
                                    <a:latin typeface="Cambria Math" panose="02040503050406030204" pitchFamily="18" charset="0"/>
                                  </a:rPr>
                                  <m:t>𝑓</m:t>
                                </m:r>
                                <m:d>
                                  <m:dPr>
                                    <m:ctrlPr>
                                      <a:rPr lang="en-US" sz="2800" b="0" i="1" smtClean="0">
                                        <a:latin typeface="Cambria Math" panose="02040503050406030204" pitchFamily="18" charset="0"/>
                                      </a:rPr>
                                    </m:ctrlPr>
                                  </m:dPr>
                                  <m:e>
                                    <m:r>
                                      <a:rPr lang="en-US" sz="2800" b="0" smtClean="0">
                                        <a:latin typeface="Cambria Math" panose="02040503050406030204" pitchFamily="18" charset="0"/>
                                      </a:rPr>
                                      <m:t>𝑒</m:t>
                                    </m:r>
                                    <m:r>
                                      <a:rPr lang="en-US" sz="2800" b="0" smtClean="0">
                                        <a:latin typeface="Cambria Math" panose="02040503050406030204" pitchFamily="18" charset="0"/>
                                      </a:rPr>
                                      <m:t>|</m:t>
                                    </m:r>
                                    <m:r>
                                      <a:rPr lang="en-US" sz="2800" b="0" smtClean="0">
                                        <a:latin typeface="Cambria Math" panose="02040503050406030204" pitchFamily="18" charset="0"/>
                                      </a:rPr>
                                      <m:t>𝑎</m:t>
                                    </m:r>
                                  </m:e>
                                </m:d>
                                <m:r>
                                  <a:rPr lang="en-US" sz="2800" b="0"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eqArr>
                                      <m:eqArrPr>
                                        <m:ctrlPr>
                                          <a:rPr lang="en-US" sz="2800" b="0" i="1" smtClean="0">
                                            <a:latin typeface="Cambria Math" panose="02040503050406030204" pitchFamily="18" charset="0"/>
                                          </a:rPr>
                                        </m:ctrlPr>
                                      </m:eqArrPr>
                                      <m:e>
                                        <m:r>
                                          <a:rPr lang="en-US" sz="2800" b="0" smtClean="0">
                                            <a:latin typeface="Cambria Math" panose="02040503050406030204" pitchFamily="18" charset="0"/>
                                          </a:rPr>
                                          <m:t>1        </m:t>
                                        </m:r>
                                        <m:r>
                                          <a:rPr lang="en-US" sz="2800" b="0" smtClean="0">
                                            <a:latin typeface="Cambria Math" panose="02040503050406030204" pitchFamily="18" charset="0"/>
                                          </a:rPr>
                                          <m:t>𝑎</m:t>
                                        </m:r>
                                        <m:r>
                                          <a:rPr lang="en-US" sz="2800" b="0" smtClean="0">
                                            <a:latin typeface="Cambria Math" panose="02040503050406030204" pitchFamily="18" charset="0"/>
                                          </a:rPr>
                                          <m:t>&lt;100</m:t>
                                        </m:r>
                                        <m:r>
                                          <a:rPr lang="en-US" sz="2800" b="0" smtClean="0">
                                            <a:latin typeface="Cambria Math" panose="02040503050406030204" pitchFamily="18" charset="0"/>
                                          </a:rPr>
                                          <m:t>𝐴𝑈</m:t>
                                        </m:r>
                                      </m:e>
                                      <m:e>
                                        <m:r>
                                          <a:rPr lang="en-US" sz="2800" b="0" smtClean="0">
                                            <a:latin typeface="Cambria Math" panose="02040503050406030204" pitchFamily="18" charset="0"/>
                                          </a:rPr>
                                          <m:t>2</m:t>
                                        </m:r>
                                        <m:r>
                                          <a:rPr lang="en-US" sz="2800" b="0" smtClean="0">
                                            <a:latin typeface="Cambria Math" panose="02040503050406030204" pitchFamily="18" charset="0"/>
                                          </a:rPr>
                                          <m:t>𝑒</m:t>
                                        </m:r>
                                        <m:r>
                                          <a:rPr lang="en-US" sz="2800" b="0" smtClean="0">
                                            <a:latin typeface="Cambria Math" panose="02040503050406030204" pitchFamily="18" charset="0"/>
                                          </a:rPr>
                                          <m:t>       </m:t>
                                        </m:r>
                                        <m:r>
                                          <a:rPr lang="en-US" sz="2800" b="0" smtClean="0">
                                            <a:latin typeface="Cambria Math" panose="02040503050406030204" pitchFamily="18" charset="0"/>
                                          </a:rPr>
                                          <m:t>𝑎</m:t>
                                        </m:r>
                                        <m:r>
                                          <a:rPr lang="en-US" sz="2800" b="0" smtClean="0">
                                            <a:latin typeface="Cambria Math" panose="02040503050406030204" pitchFamily="18" charset="0"/>
                                          </a:rPr>
                                          <m:t>&gt;100 </m:t>
                                        </m:r>
                                        <m:r>
                                          <a:rPr lang="en-US" sz="2800" b="0" smtClean="0">
                                            <a:latin typeface="Cambria Math" panose="02040503050406030204" pitchFamily="18" charset="0"/>
                                          </a:rPr>
                                          <m:t>𝐴𝑈</m:t>
                                        </m:r>
                                      </m:e>
                                    </m:eqArr>
                                  </m:e>
                                </m:d>
                              </m:oMath>
                            </m:oMathPara>
                          </a14:m>
                          <a:endParaRPr lang="en-US" sz="2800" dirty="0">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842043408"/>
                      </a:ext>
                    </a:extLst>
                  </a:tr>
                  <a:tr h="654585">
                    <a:tc>
                      <a:txBody>
                        <a:bodyPr/>
                        <a:lstStyle/>
                        <a:p>
                          <a:pPr algn="ctr"/>
                          <a:r>
                            <a:rPr lang="en-US" sz="3200" b="0" dirty="0"/>
                            <a:t>Orbital Period (P)</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14:m>
                            <m:oMathPara xmlns:m="http://schemas.openxmlformats.org/officeDocument/2006/math">
                              <m:oMathParaPr>
                                <m:jc m:val="centerGroup"/>
                              </m:oMathParaPr>
                              <m:oMath xmlns:m="http://schemas.openxmlformats.org/officeDocument/2006/math">
                                <m:r>
                                  <a:rPr lang="en-US" sz="2800" b="0" i="1" smtClean="0">
                                    <a:solidFill>
                                      <a:srgbClr val="2A2A2A"/>
                                    </a:solidFill>
                                    <a:effectLst/>
                                    <a:latin typeface="Cambria Math" panose="02040503050406030204" pitchFamily="18" charset="0"/>
                                  </a:rPr>
                                  <m:t>𝑓</m:t>
                                </m:r>
                                <m:d>
                                  <m:dPr>
                                    <m:ctrlPr>
                                      <a:rPr lang="nl-NL" sz="2800" b="0" i="1" smtClean="0">
                                        <a:solidFill>
                                          <a:srgbClr val="2A2A2A"/>
                                        </a:solidFill>
                                        <a:effectLst/>
                                        <a:latin typeface="Cambria Math" panose="02040503050406030204" pitchFamily="18" charset="0"/>
                                      </a:rPr>
                                    </m:ctrlPr>
                                  </m:dPr>
                                  <m:e>
                                    <m:sSub>
                                      <m:sSubPr>
                                        <m:ctrlPr>
                                          <a:rPr lang="nl-NL" sz="2800" b="0" i="1" smtClean="0">
                                            <a:solidFill>
                                              <a:srgbClr val="2A2A2A"/>
                                            </a:solidFill>
                                            <a:effectLst/>
                                            <a:latin typeface="Cambria Math" panose="02040503050406030204" pitchFamily="18" charset="0"/>
                                          </a:rPr>
                                        </m:ctrlPr>
                                      </m:sSubPr>
                                      <m:e>
                                        <m:r>
                                          <m:rPr>
                                            <m:sty m:val="p"/>
                                          </m:rPr>
                                          <a:rPr lang="nl-NL" sz="2800" b="0" i="1" smtClean="0">
                                            <a:solidFill>
                                              <a:srgbClr val="2A2A2A"/>
                                            </a:solidFill>
                                            <a:effectLst/>
                                            <a:latin typeface="Cambria Math" panose="02040503050406030204" pitchFamily="18" charset="0"/>
                                          </a:rPr>
                                          <m:t>log</m:t>
                                        </m:r>
                                      </m:e>
                                      <m:sub>
                                        <m:r>
                                          <a:rPr lang="nl-NL" sz="2800" b="0" i="1" smtClean="0">
                                            <a:solidFill>
                                              <a:srgbClr val="2A2A2A"/>
                                            </a:solidFill>
                                            <a:effectLst/>
                                            <a:latin typeface="Cambria Math" panose="02040503050406030204" pitchFamily="18" charset="0"/>
                                          </a:rPr>
                                          <m:t>10</m:t>
                                        </m:r>
                                      </m:sub>
                                    </m:sSub>
                                    <m:r>
                                      <a:rPr lang="nl-NL" sz="2800" b="0" i="1" smtClean="0">
                                        <a:solidFill>
                                          <a:srgbClr val="2A2A2A"/>
                                        </a:solidFill>
                                        <a:effectLst/>
                                        <a:latin typeface="Cambria Math" panose="02040503050406030204" pitchFamily="18" charset="0"/>
                                      </a:rPr>
                                      <m:t>(</m:t>
                                    </m:r>
                                    <m:r>
                                      <m:rPr>
                                        <m:sty m:val="p"/>
                                      </m:rPr>
                                      <a:rPr lang="nl-NL" sz="2800" b="0" i="1" smtClean="0">
                                        <a:solidFill>
                                          <a:srgbClr val="2A2A2A"/>
                                        </a:solidFill>
                                        <a:effectLst/>
                                        <a:latin typeface="Cambria Math" panose="02040503050406030204" pitchFamily="18" charset="0"/>
                                      </a:rPr>
                                      <m:t>P</m:t>
                                    </m:r>
                                    <m:r>
                                      <a:rPr lang="nl-NL" sz="2800" b="0" i="1" smtClean="0">
                                        <a:solidFill>
                                          <a:srgbClr val="2A2A2A"/>
                                        </a:solidFill>
                                        <a:effectLst/>
                                        <a:latin typeface="Cambria Math" panose="02040503050406030204" pitchFamily="18" charset="0"/>
                                      </a:rPr>
                                      <m:t>[</m:t>
                                    </m:r>
                                    <m:r>
                                      <m:rPr>
                                        <m:sty m:val="p"/>
                                      </m:rPr>
                                      <a:rPr lang="nl-NL" sz="2800" b="0" i="1" smtClean="0">
                                        <a:solidFill>
                                          <a:srgbClr val="2A2A2A"/>
                                        </a:solidFill>
                                        <a:effectLst/>
                                        <a:latin typeface="Cambria Math" panose="02040503050406030204" pitchFamily="18" charset="0"/>
                                      </a:rPr>
                                      <m:t>days</m:t>
                                    </m:r>
                                    <m:r>
                                      <a:rPr lang="nl-NL" sz="2800" b="0" i="1" smtClean="0">
                                        <a:solidFill>
                                          <a:srgbClr val="2A2A2A"/>
                                        </a:solidFill>
                                        <a:effectLst/>
                                        <a:latin typeface="Cambria Math" panose="02040503050406030204" pitchFamily="18" charset="0"/>
                                      </a:rPr>
                                      <m:t>])</m:t>
                                    </m:r>
                                  </m:e>
                                </m:d>
                                <m:r>
                                  <a:rPr lang="nl-NL" sz="2800" b="0" i="1" smtClean="0">
                                    <a:solidFill>
                                      <a:srgbClr val="2A2A2A"/>
                                    </a:solidFill>
                                    <a:effectLst/>
                                    <a:latin typeface="Cambria Math" panose="02040503050406030204" pitchFamily="18" charset="0"/>
                                  </a:rPr>
                                  <m:t> </m:t>
                                </m:r>
                                <m:r>
                                  <a:rPr lang="nl-NL" sz="2800" b="0" i="1" smtClean="0">
                                    <a:solidFill>
                                      <a:srgbClr val="2A2A2A"/>
                                    </a:solidFill>
                                    <a:effectLst/>
                                    <a:latin typeface="Cambria Math" panose="02040503050406030204" pitchFamily="18" charset="0"/>
                                    <a:ea typeface="Cambria Math" panose="02040503050406030204" pitchFamily="18" charset="0"/>
                                  </a:rPr>
                                  <m:t>~ </m:t>
                                </m:r>
                                <m:r>
                                  <m:rPr>
                                    <m:nor/>
                                  </m:rPr>
                                  <a:rPr lang="nl-NL" sz="2800" smtClean="0"/>
                                  <m:t>N</m:t>
                                </m:r>
                                <m:r>
                                  <m:rPr>
                                    <m:nor/>
                                  </m:rPr>
                                  <a:rPr lang="nl-NL" sz="2800" b="0" i="0" smtClean="0"/>
                                  <m:t>(4.8,2.3)</m:t>
                                </m:r>
                              </m:oMath>
                            </m:oMathPara>
                          </a14:m>
                          <a:endParaRPr lang="en-US" sz="28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1205814">
                    <a:tc>
                      <a:txBody>
                        <a:bodyPr/>
                        <a:lstStyle/>
                        <a:p>
                          <a:pPr algn="ctr"/>
                          <a:r>
                            <a:rPr lang="en-US" sz="3200" b="0" dirty="0"/>
                            <a:t>Mass ratio </a:t>
                          </a:r>
                        </a:p>
                        <a:p>
                          <a:pPr algn="ctr"/>
                          <a:r>
                            <a:rPr lang="en-US" sz="3200" b="0" dirty="0"/>
                            <a:t>(q)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0" i="0" dirty="0">
                              <a:solidFill>
                                <a:srgbClr val="2A2A2A"/>
                              </a:solidFill>
                              <a:effectLst/>
                              <a:latin typeface="Garamond" panose="02020404030301010803" pitchFamily="18" charset="0"/>
                            </a:rPr>
                            <a:t>Combination </a:t>
                          </a:r>
                          <a:r>
                            <a:rPr lang="en-US" sz="3200" b="0" i="0">
                              <a:solidFill>
                                <a:srgbClr val="2A2A2A"/>
                              </a:solidFill>
                              <a:effectLst/>
                              <a:latin typeface="Garamond" panose="02020404030301010803" pitchFamily="18" charset="0"/>
                            </a:rPr>
                            <a:t>of PD’s </a:t>
                          </a:r>
                          <a:r>
                            <a:rPr lang="en-US" sz="3200" b="0" i="0" dirty="0">
                              <a:solidFill>
                                <a:srgbClr val="2A2A2A"/>
                              </a:solidFill>
                              <a:effectLst/>
                              <a:latin typeface="Garamond" panose="02020404030301010803" pitchFamily="18" charset="0"/>
                            </a:rPr>
                            <a:t>of different types </a:t>
                          </a:r>
                        </a:p>
                        <a:p>
                          <a:pPr algn="ctr"/>
                          <a:r>
                            <a:rPr lang="en-US" sz="3200" b="0" i="0" dirty="0">
                              <a:solidFill>
                                <a:srgbClr val="2A2A2A"/>
                              </a:solidFill>
                              <a:effectLst/>
                              <a:latin typeface="Garamond" panose="02020404030301010803" pitchFamily="18" charset="0"/>
                            </a:rPr>
                            <a:t>of stars, most prominent f(q)</a:t>
                          </a:r>
                          <a:r>
                            <a:rPr lang="nl-NL" sz="3200" b="0" dirty="0">
                              <a:solidFill>
                                <a:srgbClr val="2A2A2A"/>
                              </a:solidFill>
                              <a:effectLst/>
                              <a:ea typeface="Cambria Math" panose="02040503050406030204" pitchFamily="18" charset="0"/>
                            </a:rPr>
                            <a:t> </a:t>
                          </a:r>
                          <a14:m>
                            <m:oMath xmlns:m="http://schemas.openxmlformats.org/officeDocument/2006/math">
                              <m:r>
                                <a:rPr lang="nl-NL" sz="3200" b="0" i="1" smtClean="0">
                                  <a:solidFill>
                                    <a:srgbClr val="2A2A2A"/>
                                  </a:solidFill>
                                  <a:effectLst/>
                                  <a:latin typeface="Cambria Math" panose="02040503050406030204" pitchFamily="18" charset="0"/>
                                  <a:ea typeface="Cambria Math" panose="02040503050406030204" pitchFamily="18" charset="0"/>
                                </a:rPr>
                                <m:t>~</m:t>
                              </m:r>
                              <m:sSup>
                                <m:sSupPr>
                                  <m:ctrlPr>
                                    <a:rPr lang="nl-NL" sz="3200" b="0" i="1" smtClean="0">
                                      <a:solidFill>
                                        <a:srgbClr val="2A2A2A"/>
                                      </a:solidFill>
                                      <a:effectLst/>
                                      <a:latin typeface="Cambria Math" panose="02040503050406030204" pitchFamily="18" charset="0"/>
                                      <a:ea typeface="Cambria Math" panose="02040503050406030204" pitchFamily="18" charset="0"/>
                                    </a:rPr>
                                  </m:ctrlPr>
                                </m:sSupPr>
                                <m:e>
                                  <m:r>
                                    <m:rPr>
                                      <m:sty m:val="p"/>
                                    </m:rPr>
                                    <a:rPr lang="nl-NL" sz="3200" b="0" i="1" smtClean="0">
                                      <a:solidFill>
                                        <a:srgbClr val="2A2A2A"/>
                                      </a:solidFill>
                                      <a:effectLst/>
                                      <a:latin typeface="Cambria Math" panose="02040503050406030204" pitchFamily="18" charset="0"/>
                                      <a:ea typeface="Cambria Math" panose="02040503050406030204" pitchFamily="18" charset="0"/>
                                    </a:rPr>
                                    <m:t>q</m:t>
                                  </m:r>
                                </m:e>
                                <m:sup>
                                  <m:r>
                                    <a:rPr lang="nl-NL" sz="3200" b="0" i="1" smtClean="0">
                                      <a:solidFill>
                                        <a:srgbClr val="2A2A2A"/>
                                      </a:solidFill>
                                      <a:effectLst/>
                                      <a:latin typeface="Cambria Math" panose="02040503050406030204" pitchFamily="18" charset="0"/>
                                      <a:ea typeface="Cambria Math" panose="02040503050406030204" pitchFamily="18" charset="0"/>
                                    </a:rPr>
                                    <m:t>−0.3</m:t>
                                  </m:r>
                                </m:sup>
                              </m:sSup>
                            </m:oMath>
                          </a14:m>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1205814">
                    <a:tc>
                      <a:txBody>
                        <a:bodyPr/>
                        <a:lstStyle/>
                        <a:p>
                          <a:pPr algn="ctr"/>
                          <a:r>
                            <a:rPr lang="en-US" sz="3200" b="0" dirty="0"/>
                            <a:t>Semi major axis (a)</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1205814">
                    <a:tc>
                      <a:txBody>
                        <a:bodyPr/>
                        <a:lstStyle/>
                        <a:p>
                          <a:pPr algn="ctr"/>
                          <a:r>
                            <a:rPr lang="en-US" sz="3200" b="0" dirty="0"/>
                            <a:t>Radius ratio (q)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r>
                            <a:rPr lang="en-US" sz="3200" b="0" i="0" dirty="0">
                              <a:solidFill>
                                <a:srgbClr val="2A2A2A"/>
                              </a:solidFill>
                              <a:effectLst/>
                              <a:latin typeface="Garamond" panose="02020404030301010803" pitchFamily="18" charset="0"/>
                            </a:rPr>
                            <a:t>Combination ~</a:t>
                          </a:r>
                          <a14:m>
                            <m:oMath xmlns:m="http://schemas.openxmlformats.org/officeDocument/2006/math">
                              <m:sSup>
                                <m:sSupPr>
                                  <m:ctrlPr>
                                    <a:rPr lang="en-US" sz="3200" b="0" i="1" smtClean="0">
                                      <a:solidFill>
                                        <a:srgbClr val="2A2A2A"/>
                                      </a:solidFill>
                                      <a:effectLst/>
                                      <a:latin typeface="Cambria Math" panose="02040503050406030204" pitchFamily="18" charset="0"/>
                                    </a:rPr>
                                  </m:ctrlPr>
                                </m:sSupPr>
                                <m:e>
                                  <m:r>
                                    <m:rPr>
                                      <m:sty m:val="p"/>
                                    </m:rPr>
                                    <a:rPr lang="nl-NL" sz="3200" b="0" i="1" smtClean="0">
                                      <a:solidFill>
                                        <a:srgbClr val="2A2A2A"/>
                                      </a:solidFill>
                                      <a:effectLst/>
                                      <a:latin typeface="Cambria Math" panose="02040503050406030204" pitchFamily="18" charset="0"/>
                                    </a:rPr>
                                    <m:t>q</m:t>
                                  </m:r>
                                </m:e>
                                <m:sup>
                                  <m:r>
                                    <a:rPr lang="nl-NL" sz="3200" b="0" i="1" smtClean="0">
                                      <a:solidFill>
                                        <a:srgbClr val="2A2A2A"/>
                                      </a:solidFill>
                                      <a:effectLst/>
                                      <a:latin typeface="Cambria Math" panose="02040503050406030204" pitchFamily="18" charset="0"/>
                                    </a:rPr>
                                    <m:t>0.8</m:t>
                                  </m:r>
                                </m:sup>
                              </m:sSup>
                            </m:oMath>
                          </a14:m>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Choice>
        <mc:Fallback>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282175471"/>
                  </p:ext>
                </p:extLst>
              </p:nvPr>
            </p:nvGraphicFramePr>
            <p:xfrm>
              <a:off x="21924" y="10841916"/>
              <a:ext cx="11749341" cy="6259611"/>
            </p:xfrm>
            <a:graphic>
              <a:graphicData uri="http://schemas.openxmlformats.org/drawingml/2006/table">
                <a:tbl>
                  <a:tblPr firstRow="1" bandRow="1">
                    <a:tableStyleId>{2D5ABB26-0587-4C30-8999-92F81FD0307C}</a:tableStyleId>
                  </a:tblPr>
                  <a:tblGrid>
                    <a:gridCol w="3661426">
                      <a:extLst>
                        <a:ext uri="{9D8B030D-6E8A-4147-A177-3AD203B41FA5}">
                          <a16:colId xmlns:a16="http://schemas.microsoft.com/office/drawing/2014/main" val="1884549708"/>
                        </a:ext>
                      </a:extLst>
                    </a:gridCol>
                    <a:gridCol w="8087915">
                      <a:extLst>
                        <a:ext uri="{9D8B030D-6E8A-4147-A177-3AD203B41FA5}">
                          <a16:colId xmlns:a16="http://schemas.microsoft.com/office/drawing/2014/main" val="3529507465"/>
                        </a:ext>
                      </a:extLst>
                    </a:gridCol>
                  </a:tblGrid>
                  <a:tr h="654585">
                    <a:tc>
                      <a:txBody>
                        <a:bodyPr/>
                        <a:lstStyle/>
                        <a:p>
                          <a:pPr algn="ctr"/>
                          <a:r>
                            <a:rPr lang="en-US" sz="3200" b="1" dirty="0"/>
                            <a:t>Parameter</a:t>
                          </a:r>
                          <a:endParaRPr lang="en-US" sz="3200" b="1"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1332999">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en-US"/>
                        </a:p>
                      </a:txBody>
                      <a:tcPr marL="92354" marR="92354">
                        <a:lnL w="12700" cap="flat" cmpd="sng" algn="ctr">
                          <a:solidFill>
                            <a:schemeClr val="tx1"/>
                          </a:solidFill>
                          <a:prstDash val="solid"/>
                          <a:round/>
                          <a:headEnd type="none" w="med" len="med"/>
                          <a:tailEnd type="none" w="med" len="med"/>
                        </a:lnL>
                        <a:blipFill>
                          <a:blip r:embed="rId7"/>
                          <a:stretch>
                            <a:fillRect l="-45290" t="-55046" b="-322477"/>
                          </a:stretch>
                        </a:blipFill>
                      </a:tcPr>
                    </a:tc>
                    <a:extLst>
                      <a:ext uri="{0D108BD9-81ED-4DB2-BD59-A6C34878D82A}">
                        <a16:rowId xmlns:a16="http://schemas.microsoft.com/office/drawing/2014/main" val="3842043408"/>
                      </a:ext>
                    </a:extLst>
                  </a:tr>
                  <a:tr h="654585">
                    <a:tc>
                      <a:txBody>
                        <a:bodyPr/>
                        <a:lstStyle/>
                        <a:p>
                          <a:pPr algn="ctr"/>
                          <a:r>
                            <a:rPr lang="en-US" sz="3200" b="0" dirty="0"/>
                            <a:t>Orbital Period (P)</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en-US"/>
                        </a:p>
                      </a:txBody>
                      <a:tcPr marL="92354" marR="92354">
                        <a:lnL w="12700" cap="flat" cmpd="sng" algn="ctr">
                          <a:solidFill>
                            <a:schemeClr val="tx1"/>
                          </a:solidFill>
                          <a:prstDash val="solid"/>
                          <a:round/>
                          <a:headEnd type="none" w="med" len="med"/>
                          <a:tailEnd type="none" w="med" len="med"/>
                        </a:lnL>
                        <a:blipFill>
                          <a:blip r:embed="rId7"/>
                          <a:stretch>
                            <a:fillRect l="-45290" t="-312963" b="-550926"/>
                          </a:stretch>
                        </a:blipFill>
                      </a:tcPr>
                    </a:tc>
                    <a:extLst>
                      <a:ext uri="{0D108BD9-81ED-4DB2-BD59-A6C34878D82A}">
                        <a16:rowId xmlns:a16="http://schemas.microsoft.com/office/drawing/2014/main" val="2570003111"/>
                      </a:ext>
                    </a:extLst>
                  </a:tr>
                  <a:tr h="1205814">
                    <a:tc>
                      <a:txBody>
                        <a:bodyPr/>
                        <a:lstStyle/>
                        <a:p>
                          <a:pPr algn="ctr"/>
                          <a:r>
                            <a:rPr lang="en-US" sz="3200" b="0" dirty="0"/>
                            <a:t>Mass ratio </a:t>
                          </a:r>
                        </a:p>
                        <a:p>
                          <a:pPr algn="ctr"/>
                          <a:r>
                            <a:rPr lang="en-US" sz="3200" b="0" dirty="0"/>
                            <a:t>(q)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en-US"/>
                        </a:p>
                      </a:txBody>
                      <a:tcPr marL="92354" marR="92354">
                        <a:lnL w="12700" cap="flat" cmpd="sng" algn="ctr">
                          <a:solidFill>
                            <a:schemeClr val="tx1"/>
                          </a:solidFill>
                          <a:prstDash val="solid"/>
                          <a:round/>
                          <a:headEnd type="none" w="med" len="med"/>
                          <a:tailEnd type="none" w="med" len="med"/>
                        </a:lnL>
                        <a:blipFill>
                          <a:blip r:embed="rId7"/>
                          <a:stretch>
                            <a:fillRect l="-45290" t="-225253" b="-200505"/>
                          </a:stretch>
                        </a:blipFill>
                      </a:tcPr>
                    </a:tc>
                    <a:extLst>
                      <a:ext uri="{0D108BD9-81ED-4DB2-BD59-A6C34878D82A}">
                        <a16:rowId xmlns:a16="http://schemas.microsoft.com/office/drawing/2014/main" val="594018447"/>
                      </a:ext>
                    </a:extLst>
                  </a:tr>
                  <a:tr h="1205814">
                    <a:tc>
                      <a:txBody>
                        <a:bodyPr/>
                        <a:lstStyle/>
                        <a:p>
                          <a:pPr algn="ctr"/>
                          <a:r>
                            <a:rPr lang="en-US" sz="3200" b="0" dirty="0"/>
                            <a:t>Semi major axis (a)</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1205814">
                    <a:tc>
                      <a:txBody>
                        <a:bodyPr/>
                        <a:lstStyle/>
                        <a:p>
                          <a:pPr algn="ctr"/>
                          <a:r>
                            <a:rPr lang="en-US" sz="3200" b="0" dirty="0"/>
                            <a:t>Radius ratio (q)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en-US"/>
                        </a:p>
                      </a:txBody>
                      <a:tcPr marL="92354" marR="92354">
                        <a:lnL w="12700" cap="flat" cmpd="sng" algn="ctr">
                          <a:solidFill>
                            <a:schemeClr val="tx1"/>
                          </a:solidFill>
                          <a:prstDash val="solid"/>
                          <a:round/>
                          <a:headEnd type="none" w="med" len="med"/>
                          <a:tailEnd type="none" w="med" len="med"/>
                        </a:lnL>
                        <a:blipFill>
                          <a:blip r:embed="rId7"/>
                          <a:stretch>
                            <a:fillRect l="-45290" t="-425253" b="-505"/>
                          </a:stretch>
                        </a:blipFill>
                      </a:tcPr>
                    </a:tc>
                    <a:extLst>
                      <a:ext uri="{0D108BD9-81ED-4DB2-BD59-A6C34878D82A}">
                        <a16:rowId xmlns:a16="http://schemas.microsoft.com/office/drawing/2014/main" val="3406429993"/>
                      </a:ext>
                    </a:extLst>
                  </a:tr>
                </a:tbl>
              </a:graphicData>
            </a:graphic>
          </p:graphicFrame>
        </mc:Fallback>
      </mc:AlternateContent>
      <p:sp>
        <p:nvSpPr>
          <p:cNvPr id="2" name="Textfeld 1">
            <a:extLst>
              <a:ext uri="{FF2B5EF4-FFF2-40B4-BE49-F238E27FC236}">
                <a16:creationId xmlns:a16="http://schemas.microsoft.com/office/drawing/2014/main" id="{257CDFF9-337C-562C-2BEA-4394DD69AA20}"/>
              </a:ext>
            </a:extLst>
          </p:cNvPr>
          <p:cNvSpPr txBox="1"/>
          <p:nvPr/>
        </p:nvSpPr>
        <p:spPr>
          <a:xfrm>
            <a:off x="167933" y="23257475"/>
            <a:ext cx="20706044" cy="830997"/>
          </a:xfrm>
          <a:prstGeom prst="rect">
            <a:avLst/>
          </a:prstGeom>
          <a:noFill/>
        </p:spPr>
        <p:txBody>
          <a:bodyPr wrap="square">
            <a:spAutoFit/>
          </a:bodyPr>
          <a:lstStyle/>
          <a:p>
            <a:r>
              <a:rPr lang="en-US" sz="2400" b="1" i="1" dirty="0">
                <a:solidFill>
                  <a:srgbClr val="000000"/>
                </a:solidFill>
                <a:latin typeface="Garamond" panose="02020404030301010803" pitchFamily="18" charset="0"/>
              </a:rPr>
              <a:t>Figure 1</a:t>
            </a:r>
            <a:r>
              <a:rPr lang="en-US" sz="2400" dirty="0">
                <a:solidFill>
                  <a:srgbClr val="000000"/>
                </a:solidFill>
                <a:latin typeface="Garamond" panose="02020404030301010803" pitchFamily="18" charset="0"/>
              </a:rPr>
              <a:t>. Observational and theoretical distributions for the BDB. The upper plot shows the expected and the theoretical distribution. The residual probabilities is the observational bias for each parameter. The x-axis indicates which parameter is evaluated. </a:t>
            </a:r>
            <a:endParaRPr lang="en-US" sz="2400" dirty="0">
              <a:latin typeface="Garamond" panose="02020404030301010803" pitchFamily="18" charset="0"/>
            </a:endParaRPr>
          </a:p>
        </p:txBody>
      </p:sp>
      <p:sp>
        <p:nvSpPr>
          <p:cNvPr id="8" name="Rechteck 7">
            <a:extLst>
              <a:ext uri="{FF2B5EF4-FFF2-40B4-BE49-F238E27FC236}">
                <a16:creationId xmlns:a16="http://schemas.microsoft.com/office/drawing/2014/main" id="{411274EE-0C89-D8DC-D78E-D77A17C682A3}"/>
              </a:ext>
            </a:extLst>
          </p:cNvPr>
          <p:cNvSpPr/>
          <p:nvPr/>
        </p:nvSpPr>
        <p:spPr>
          <a:xfrm>
            <a:off x="-19713425" y="16518739"/>
            <a:ext cx="10692000" cy="7560000"/>
          </a:xfrm>
          <a:prstGeom prst="rect">
            <a:avLst/>
          </a:prstGeom>
          <a:noFill/>
          <a:ln w="76200"/>
        </p:spPr>
        <p:style>
          <a:lnRef idx="2">
            <a:schemeClr val="accent6"/>
          </a:lnRef>
          <a:fillRef idx="1">
            <a:schemeClr val="lt1"/>
          </a:fillRef>
          <a:effectRef idx="0">
            <a:schemeClr val="accent6"/>
          </a:effectRef>
          <a:fontRef idx="minor">
            <a:schemeClr val="dk1"/>
          </a:fontRef>
        </p:style>
        <p:txBody>
          <a:bodyPr rtlCol="0" anchor="ctr"/>
          <a:lstStyle/>
          <a:p>
            <a:pPr algn="ctr"/>
            <a:r>
              <a:rPr lang="en-US" sz="9600" dirty="0">
                <a:highlight>
                  <a:srgbClr val="FFFF00"/>
                </a:highlight>
              </a:rPr>
              <a:t>A4</a:t>
            </a:r>
          </a:p>
        </p:txBody>
      </p:sp>
      <mc:AlternateContent xmlns:mc="http://schemas.openxmlformats.org/markup-compatibility/2006">
        <mc:Choice xmlns:a14="http://schemas.microsoft.com/office/drawing/2010/main" Requires="a14">
          <p:sp>
            <p:nvSpPr>
              <p:cNvPr id="10" name="Textfeld 9">
                <a:extLst>
                  <a:ext uri="{FF2B5EF4-FFF2-40B4-BE49-F238E27FC236}">
                    <a16:creationId xmlns:a16="http://schemas.microsoft.com/office/drawing/2014/main" id="{EEC861E3-4293-261B-8470-7D810DEF75E7}"/>
                  </a:ext>
                </a:extLst>
              </p:cNvPr>
              <p:cNvSpPr txBox="1"/>
              <p:nvPr/>
            </p:nvSpPr>
            <p:spPr>
              <a:xfrm>
                <a:off x="5135880" y="14828022"/>
                <a:ext cx="15875843" cy="2256515"/>
              </a:xfrm>
              <a:prstGeom prst="rect">
                <a:avLst/>
              </a:prstGeom>
              <a:noFill/>
            </p:spPr>
            <p:txBody>
              <a:bodyPr wrap="square" rtlCol="0">
                <a:spAutoFit/>
              </a:bodyPr>
              <a:lstStyle/>
              <a:p>
                <a:r>
                  <a:rPr lang="en-US" sz="2800" dirty="0">
                    <a:solidFill>
                      <a:prstClr val="black"/>
                    </a:solidFill>
                    <a:latin typeface="Garamond" panose="02020404030301010803" pitchFamily="18" charset="0"/>
                  </a:rPr>
                  <a:t>											The Binary Star </a:t>
                </a:r>
                <a:r>
                  <a:rPr lang="en-US" sz="2800" dirty="0" err="1">
                    <a:solidFill>
                      <a:prstClr val="black"/>
                    </a:solidFill>
                    <a:latin typeface="Garamond" panose="02020404030301010803" pitchFamily="18" charset="0"/>
                  </a:rPr>
                  <a:t>DataBase</a:t>
                </a:r>
                <a:r>
                  <a:rPr lang="en-US" sz="2800" dirty="0">
                    <a:solidFill>
                      <a:prstClr val="black"/>
                    </a:solidFill>
                    <a:latin typeface="Garamond" panose="02020404030301010803" pitchFamily="18" charset="0"/>
                  </a:rPr>
                  <a:t> (BDB) shows various observational biases </a:t>
                </a:r>
              </a:p>
              <a:p>
                <a:r>
                  <a:rPr lang="en-US" sz="2800" dirty="0">
                    <a:solidFill>
                      <a:prstClr val="black"/>
                    </a:solidFill>
                    <a:latin typeface="Garamond" panose="02020404030301010803" pitchFamily="18" charset="0"/>
                  </a:rPr>
                  <a:t>									(Fig. 1): short periods (&lt;</a:t>
                </a:r>
                <a14:m>
                  <m:oMath xmlns:m="http://schemas.openxmlformats.org/officeDocument/2006/math">
                    <m:sSup>
                      <m:sSupPr>
                        <m:ctrlPr>
                          <a:rPr lang="en-US" sz="2800" i="1">
                            <a:solidFill>
                              <a:prstClr val="black"/>
                            </a:solidFill>
                            <a:latin typeface="Cambria Math" panose="02040503050406030204" pitchFamily="18" charset="0"/>
                          </a:rPr>
                        </m:ctrlPr>
                      </m:sSupPr>
                      <m:e>
                        <m:r>
                          <a:rPr lang="nl-NL" sz="2800">
                            <a:solidFill>
                              <a:prstClr val="black"/>
                            </a:solidFill>
                            <a:latin typeface="Cambria Math" panose="02040503050406030204" pitchFamily="18" charset="0"/>
                          </a:rPr>
                          <m:t>10</m:t>
                        </m:r>
                      </m:e>
                      <m:sup>
                        <m:r>
                          <a:rPr lang="nl-NL" sz="2800">
                            <a:solidFill>
                              <a:prstClr val="black"/>
                            </a:solidFill>
                            <a:latin typeface="Cambria Math" panose="02040503050406030204" pitchFamily="18" charset="0"/>
                          </a:rPr>
                          <m:t>1.7</m:t>
                        </m:r>
                      </m:sup>
                    </m:sSup>
                  </m:oMath>
                </a14:m>
                <a:r>
                  <a:rPr lang="en-US" sz="2800" dirty="0">
                    <a:solidFill>
                      <a:prstClr val="black"/>
                    </a:solidFill>
                    <a:latin typeface="Garamond" panose="02020404030301010803" pitchFamily="18" charset="0"/>
                  </a:rPr>
                  <a:t>) and high mass ratios (&gt;0.5) are overrepresented, 								while circular orbits are strongly favored. Low and high radius ratios are favored over 							intermediate ones. These biases arise because long-period systems 	and faint companions are 					harder to detect and because of the two different measurement methods.</a:t>
                </a:r>
              </a:p>
            </p:txBody>
          </p:sp>
        </mc:Choice>
        <mc:Fallback>
          <p:sp>
            <p:nvSpPr>
              <p:cNvPr id="10" name="Textfeld 9">
                <a:extLst>
                  <a:ext uri="{FF2B5EF4-FFF2-40B4-BE49-F238E27FC236}">
                    <a16:creationId xmlns:a16="http://schemas.microsoft.com/office/drawing/2014/main" id="{EEC861E3-4293-261B-8470-7D810DEF75E7}"/>
                  </a:ext>
                </a:extLst>
              </p:cNvPr>
              <p:cNvSpPr txBox="1">
                <a:spLocks noRot="1" noChangeAspect="1" noMove="1" noResize="1" noEditPoints="1" noAdjustHandles="1" noChangeArrowheads="1" noChangeShapeType="1" noTextEdit="1"/>
              </p:cNvSpPr>
              <p:nvPr/>
            </p:nvSpPr>
            <p:spPr>
              <a:xfrm>
                <a:off x="5135880" y="14828022"/>
                <a:ext cx="15875843" cy="2256515"/>
              </a:xfrm>
              <a:prstGeom prst="rect">
                <a:avLst/>
              </a:prstGeom>
              <a:blipFill>
                <a:blip r:embed="rId8"/>
                <a:stretch>
                  <a:fillRect t="-2695" b="-5930"/>
                </a:stretch>
              </a:blipFill>
            </p:spPr>
            <p:txBody>
              <a:bodyPr/>
              <a:lstStyle/>
              <a:p>
                <a:r>
                  <a:rPr lang="en-US">
                    <a:noFill/>
                  </a:rPr>
                  <a:t> </a:t>
                </a:r>
              </a:p>
            </p:txBody>
          </p:sp>
        </mc:Fallback>
      </mc:AlternateContent>
      <p:sp>
        <p:nvSpPr>
          <p:cNvPr id="11" name="Rechteck 10">
            <a:extLst>
              <a:ext uri="{FF2B5EF4-FFF2-40B4-BE49-F238E27FC236}">
                <a16:creationId xmlns:a16="http://schemas.microsoft.com/office/drawing/2014/main" id="{DE0F863F-84E9-EDE3-B277-A75B7AC18A11}"/>
              </a:ext>
            </a:extLst>
          </p:cNvPr>
          <p:cNvSpPr/>
          <p:nvPr/>
        </p:nvSpPr>
        <p:spPr>
          <a:xfrm>
            <a:off x="23478744" y="14139812"/>
            <a:ext cx="9688172" cy="215701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6000" dirty="0"/>
              <a:t>Choose between table or plain text for results</a:t>
            </a:r>
          </a:p>
        </p:txBody>
      </p:sp>
      <p:cxnSp>
        <p:nvCxnSpPr>
          <p:cNvPr id="17" name="Gerade Verbindung mit Pfeil 16">
            <a:extLst>
              <a:ext uri="{FF2B5EF4-FFF2-40B4-BE49-F238E27FC236}">
                <a16:creationId xmlns:a16="http://schemas.microsoft.com/office/drawing/2014/main" id="{146FA7D4-817B-331F-243B-515CF96A3EFD}"/>
              </a:ext>
            </a:extLst>
          </p:cNvPr>
          <p:cNvCxnSpPr/>
          <p:nvPr/>
        </p:nvCxnSpPr>
        <p:spPr>
          <a:xfrm>
            <a:off x="28239469" y="16386635"/>
            <a:ext cx="670560" cy="1419104"/>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Gerade Verbindung mit Pfeil 18">
            <a:extLst>
              <a:ext uri="{FF2B5EF4-FFF2-40B4-BE49-F238E27FC236}">
                <a16:creationId xmlns:a16="http://schemas.microsoft.com/office/drawing/2014/main" id="{A51CA63B-AE8B-C8DC-103F-AC70E390BA72}"/>
              </a:ext>
            </a:extLst>
          </p:cNvPr>
          <p:cNvCxnSpPr>
            <a:cxnSpLocks/>
            <a:stCxn id="11" idx="2"/>
          </p:cNvCxnSpPr>
          <p:nvPr/>
        </p:nvCxnSpPr>
        <p:spPr>
          <a:xfrm flipH="1">
            <a:off x="23964900" y="16296824"/>
            <a:ext cx="4357930" cy="1486848"/>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Rechteck 21">
            <a:extLst>
              <a:ext uri="{FF2B5EF4-FFF2-40B4-BE49-F238E27FC236}">
                <a16:creationId xmlns:a16="http://schemas.microsoft.com/office/drawing/2014/main" id="{83868522-5080-F034-4FE0-9811D53FE160}"/>
              </a:ext>
            </a:extLst>
          </p:cNvPr>
          <p:cNvSpPr/>
          <p:nvPr/>
        </p:nvSpPr>
        <p:spPr>
          <a:xfrm>
            <a:off x="-18030652" y="8806766"/>
            <a:ext cx="9688172" cy="4054516"/>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6000" dirty="0"/>
              <a:t>A4 for reference, make sure everything can be read from 2m away</a:t>
            </a:r>
          </a:p>
        </p:txBody>
      </p:sp>
      <p:cxnSp>
        <p:nvCxnSpPr>
          <p:cNvPr id="23" name="Gerade Verbindung mit Pfeil 22">
            <a:extLst>
              <a:ext uri="{FF2B5EF4-FFF2-40B4-BE49-F238E27FC236}">
                <a16:creationId xmlns:a16="http://schemas.microsoft.com/office/drawing/2014/main" id="{87701C8F-B0BD-60F4-4A76-2E0CEE344469}"/>
              </a:ext>
            </a:extLst>
          </p:cNvPr>
          <p:cNvCxnSpPr>
            <a:cxnSpLocks/>
          </p:cNvCxnSpPr>
          <p:nvPr/>
        </p:nvCxnSpPr>
        <p:spPr>
          <a:xfrm>
            <a:off x="-13186566" y="12861282"/>
            <a:ext cx="2023266" cy="2908793"/>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4" name="Grafik 13">
            <a:extLst>
              <a:ext uri="{FF2B5EF4-FFF2-40B4-BE49-F238E27FC236}">
                <a16:creationId xmlns:a16="http://schemas.microsoft.com/office/drawing/2014/main" id="{CE8CF416-836D-AFEE-A1C3-3C92DDBF7BAD}"/>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2580028" y="17896089"/>
            <a:ext cx="4237604" cy="5103645"/>
          </a:xfrm>
          <a:prstGeom prst="rect">
            <a:avLst/>
          </a:prstGeom>
        </p:spPr>
      </p:pic>
      <p:pic>
        <p:nvPicPr>
          <p:cNvPr id="29" name="Grafik 28">
            <a:extLst>
              <a:ext uri="{FF2B5EF4-FFF2-40B4-BE49-F238E27FC236}">
                <a16:creationId xmlns:a16="http://schemas.microsoft.com/office/drawing/2014/main" id="{2A130629-8A6B-D6BC-8480-73A945782973}"/>
              </a:ext>
            </a:extLst>
          </p:cNvPr>
          <p:cNvPicPr>
            <a:picLocks noChangeAspect="1"/>
          </p:cNvPicPr>
          <p:nvPr/>
        </p:nvPicPr>
        <p:blipFill>
          <a:blip>
            <a:extLst>
              <a:ext uri="{96DAC541-7B7A-43D3-8B79-37D633B846F1}">
                <asvg:svgBlip xmlns:asvg="http://schemas.microsoft.com/office/drawing/2016/SVG/main" r:embed="rId10"/>
              </a:ext>
            </a:extLst>
          </a:blip>
          <a:srcRect t="6133" r="6582"/>
          <a:stretch>
            <a:fillRect/>
          </a:stretch>
        </p:blipFill>
        <p:spPr>
          <a:xfrm>
            <a:off x="7895662" y="17906015"/>
            <a:ext cx="4909197" cy="5061600"/>
          </a:xfrm>
          <a:prstGeom prst="rect">
            <a:avLst/>
          </a:prstGeom>
        </p:spPr>
      </p:pic>
      <p:pic>
        <p:nvPicPr>
          <p:cNvPr id="21" name="Graphic 27">
            <a:extLst>
              <a:ext uri="{FF2B5EF4-FFF2-40B4-BE49-F238E27FC236}">
                <a16:creationId xmlns:a16="http://schemas.microsoft.com/office/drawing/2014/main" id="{D1644647-075B-DFB4-CE0E-B4BEBDE89E6A}"/>
              </a:ext>
            </a:extLst>
          </p:cNvPr>
          <p:cNvPicPr>
            <a:picLocks noChangeAspect="1"/>
          </p:cNvPicPr>
          <p:nvPr/>
        </p:nvPicPr>
        <p:blipFill>
          <a:blip>
            <a:extLst>
              <a:ext uri="{96DAC541-7B7A-43D3-8B79-37D633B846F1}">
                <asvg:svgBlip xmlns:asvg="http://schemas.microsoft.com/office/drawing/2016/SVG/main" r:embed="rId11"/>
              </a:ext>
            </a:extLst>
          </a:blip>
          <a:srcRect t="6188"/>
          <a:stretch>
            <a:fillRect/>
          </a:stretch>
        </p:blipFill>
        <p:spPr>
          <a:xfrm>
            <a:off x="4166566" y="17896090"/>
            <a:ext cx="4351973" cy="5103312"/>
          </a:xfrm>
          <a:prstGeom prst="rect">
            <a:avLst/>
          </a:prstGeom>
        </p:spPr>
      </p:pic>
      <p:pic>
        <p:nvPicPr>
          <p:cNvPr id="24" name="Graphic 29">
            <a:extLst>
              <a:ext uri="{FF2B5EF4-FFF2-40B4-BE49-F238E27FC236}">
                <a16:creationId xmlns:a16="http://schemas.microsoft.com/office/drawing/2014/main" id="{6D2E5C82-84B6-5B08-A829-953CBFFCA94F}"/>
              </a:ext>
            </a:extLst>
          </p:cNvPr>
          <p:cNvPicPr>
            <a:picLocks noChangeAspect="1"/>
          </p:cNvPicPr>
          <p:nvPr/>
        </p:nvPicPr>
        <p:blipFill>
          <a:blip>
            <a:extLst>
              <a:ext uri="{96DAC541-7B7A-43D3-8B79-37D633B846F1}">
                <asvg:svgBlip xmlns:asvg="http://schemas.microsoft.com/office/drawing/2016/SVG/main" r:embed="rId12"/>
              </a:ext>
            </a:extLst>
          </a:blip>
          <a:srcRect t="6188"/>
          <a:stretch>
            <a:fillRect/>
          </a:stretch>
        </p:blipFill>
        <p:spPr>
          <a:xfrm>
            <a:off x="193474" y="17896089"/>
            <a:ext cx="4351973" cy="5103311"/>
          </a:xfrm>
          <a:prstGeom prst="rect">
            <a:avLst/>
          </a:prstGeom>
        </p:spPr>
      </p:pic>
      <p:sp>
        <p:nvSpPr>
          <p:cNvPr id="26" name="Rechteck 25">
            <a:extLst>
              <a:ext uri="{FF2B5EF4-FFF2-40B4-BE49-F238E27FC236}">
                <a16:creationId xmlns:a16="http://schemas.microsoft.com/office/drawing/2014/main" id="{EA8F6643-E188-E9B9-4278-A3D486B64E53}"/>
              </a:ext>
            </a:extLst>
          </p:cNvPr>
          <p:cNvSpPr/>
          <p:nvPr/>
        </p:nvSpPr>
        <p:spPr>
          <a:xfrm>
            <a:off x="16917187" y="17896089"/>
            <a:ext cx="4062092" cy="51036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dirty="0"/>
              <a:t>Semi major axis plot</a:t>
            </a: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4C8B8DA4-8A9F-A571-8BDA-5BE0C92907A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3356506" y="10231452"/>
            <a:ext cx="4573344" cy="5508000"/>
          </a:xfrm>
          <a:prstGeom prst="rect">
            <a:avLst/>
          </a:prstGeom>
        </p:spPr>
      </p:pic>
      <p:pic>
        <p:nvPicPr>
          <p:cNvPr id="8" name="Graphic 31">
            <a:extLst>
              <a:ext uri="{FF2B5EF4-FFF2-40B4-BE49-F238E27FC236}">
                <a16:creationId xmlns:a16="http://schemas.microsoft.com/office/drawing/2014/main" id="{308E6AF5-BDC0-98E6-7276-17E80AE90DD1}"/>
              </a:ext>
            </a:extLst>
          </p:cNvPr>
          <p:cNvPicPr>
            <a:picLocks noChangeAspect="1"/>
          </p:cNvPicPr>
          <p:nvPr/>
        </p:nvPicPr>
        <p:blipFill>
          <a:blip>
            <a:extLst>
              <a:ext uri="{96DAC541-7B7A-43D3-8B79-37D633B846F1}">
                <asvg:svgBlip xmlns:asvg="http://schemas.microsoft.com/office/drawing/2016/SVG/main" r:embed="rId3"/>
              </a:ext>
            </a:extLst>
          </a:blip>
          <a:srcRect t="3419"/>
          <a:stretch>
            <a:fillRect/>
          </a:stretch>
        </p:blipFill>
        <p:spPr>
          <a:xfrm>
            <a:off x="9202316" y="10231454"/>
            <a:ext cx="4424149" cy="5327021"/>
          </a:xfrm>
          <a:prstGeom prst="rect">
            <a:avLst/>
          </a:prstGeom>
        </p:spPr>
      </p:pic>
      <p:sp>
        <p:nvSpPr>
          <p:cNvPr id="2" name="Titel 1">
            <a:extLst>
              <a:ext uri="{FF2B5EF4-FFF2-40B4-BE49-F238E27FC236}">
                <a16:creationId xmlns:a16="http://schemas.microsoft.com/office/drawing/2014/main" id="{A86EE84D-1E69-4CF1-4E7A-B2F327A9401B}"/>
              </a:ext>
            </a:extLst>
          </p:cNvPr>
          <p:cNvSpPr>
            <a:spLocks noGrp="1"/>
          </p:cNvSpPr>
          <p:nvPr>
            <p:ph type="title"/>
          </p:nvPr>
        </p:nvSpPr>
        <p:spPr/>
        <p:txBody>
          <a:bodyPr/>
          <a:lstStyle/>
          <a:p>
            <a:endParaRPr lang="en-US"/>
          </a:p>
        </p:txBody>
      </p:sp>
      <p:pic>
        <p:nvPicPr>
          <p:cNvPr id="6" name="Graphic 27">
            <a:extLst>
              <a:ext uri="{FF2B5EF4-FFF2-40B4-BE49-F238E27FC236}">
                <a16:creationId xmlns:a16="http://schemas.microsoft.com/office/drawing/2014/main" id="{B4A84105-F697-6038-FA53-883DE08304A8}"/>
              </a:ext>
            </a:extLst>
          </p:cNvPr>
          <p:cNvPicPr>
            <a:picLocks noChangeAspect="1"/>
          </p:cNvPicPr>
          <p:nvPr/>
        </p:nvPicPr>
        <p:blipFill>
          <a:blip>
            <a:extLst>
              <a:ext uri="{96DAC541-7B7A-43D3-8B79-37D633B846F1}">
                <asvg:svgBlip xmlns:asvg="http://schemas.microsoft.com/office/drawing/2016/SVG/main" r:embed="rId4"/>
              </a:ext>
            </a:extLst>
          </a:blip>
          <a:srcRect t="6188"/>
          <a:stretch>
            <a:fillRect/>
          </a:stretch>
        </p:blipFill>
        <p:spPr>
          <a:xfrm>
            <a:off x="4725567" y="10240979"/>
            <a:ext cx="4696774" cy="5507641"/>
          </a:xfrm>
          <a:prstGeom prst="rect">
            <a:avLst/>
          </a:prstGeom>
        </p:spPr>
      </p:pic>
      <p:pic>
        <p:nvPicPr>
          <p:cNvPr id="7" name="Graphic 29">
            <a:extLst>
              <a:ext uri="{FF2B5EF4-FFF2-40B4-BE49-F238E27FC236}">
                <a16:creationId xmlns:a16="http://schemas.microsoft.com/office/drawing/2014/main" id="{B005335D-76EF-FEBD-F9F4-737A0A4E4CD1}"/>
              </a:ext>
            </a:extLst>
          </p:cNvPr>
          <p:cNvPicPr>
            <a:picLocks noChangeAspect="1"/>
          </p:cNvPicPr>
          <p:nvPr/>
        </p:nvPicPr>
        <p:blipFill>
          <a:blip>
            <a:extLst>
              <a:ext uri="{96DAC541-7B7A-43D3-8B79-37D633B846F1}">
                <asvg:svgBlip xmlns:asvg="http://schemas.microsoft.com/office/drawing/2016/SVG/main" r:embed="rId5"/>
              </a:ext>
            </a:extLst>
          </a:blip>
          <a:srcRect t="6188"/>
          <a:stretch>
            <a:fillRect/>
          </a:stretch>
        </p:blipFill>
        <p:spPr>
          <a:xfrm>
            <a:off x="438150" y="10240979"/>
            <a:ext cx="4696774" cy="5507640"/>
          </a:xfrm>
          <a:prstGeom prst="rect">
            <a:avLst/>
          </a:prstGeom>
        </p:spPr>
      </p:pic>
    </p:spTree>
    <p:extLst>
      <p:ext uri="{BB962C8B-B14F-4D97-AF65-F5344CB8AC3E}">
        <p14:creationId xmlns:p14="http://schemas.microsoft.com/office/powerpoint/2010/main" val="41125125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749</Words>
  <Application>Microsoft Office PowerPoint</Application>
  <PresentationFormat>Benutzerdefiniert</PresentationFormat>
  <Paragraphs>55</Paragraphs>
  <Slides>2</Slides>
  <Notes>1</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2</vt:i4>
      </vt:variant>
    </vt:vector>
  </HeadingPairs>
  <TitlesOfParts>
    <vt:vector size="8" baseType="lpstr">
      <vt:lpstr>Aptos</vt:lpstr>
      <vt:lpstr>Aptos Display</vt:lpstr>
      <vt:lpstr>Arial</vt:lpstr>
      <vt:lpstr>Cambria Math</vt:lpstr>
      <vt:lpstr>Garamond</vt:lpstr>
      <vt:lpstr>Office</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Elja Meuter</cp:lastModifiedBy>
  <cp:revision>1</cp:revision>
  <cp:lastPrinted>2026-05-08T11:07:59Z</cp:lastPrinted>
  <dcterms:created xsi:type="dcterms:W3CDTF">2026-05-07T08:35:58Z</dcterms:created>
  <dcterms:modified xsi:type="dcterms:W3CDTF">2026-05-18T16:05:11Z</dcterms:modified>
</cp:coreProperties>
</file>